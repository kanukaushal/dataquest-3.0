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Fjalla One" panose="02000506040000020004" pitchFamily="2" charset="0"/>
      <p:regular r:id="rId11"/>
    </p:embeddedFont>
    <p:embeddedFont>
      <p:font typeface="Mulish"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grU1R5Wib+Zp7JFZb228skWDvf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8"/>
          <p:cNvSpPr>
            <a:spLocks noGrp="1"/>
          </p:cNvSpPr>
          <p:nvPr>
            <p:ph type="pic" idx="2"/>
          </p:nvPr>
        </p:nvSpPr>
        <p:spPr>
          <a:xfrm>
            <a:off x="1792288" y="612775"/>
            <a:ext cx="5486400" cy="4114800"/>
          </a:xfrm>
          <a:prstGeom prst="rect">
            <a:avLst/>
          </a:prstGeom>
          <a:noFill/>
          <a:ln>
            <a:noFill/>
          </a:ln>
        </p:spPr>
      </p:sp>
      <p:sp>
        <p:nvSpPr>
          <p:cNvPr id="64" name="Google Shape;64;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pull/>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
          <p:cNvSpPr/>
          <p:nvPr/>
        </p:nvSpPr>
        <p:spPr>
          <a:xfrm>
            <a:off x="-182880" y="2194560"/>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6" name="Google Shape;86;p1"/>
          <p:cNvSpPr/>
          <p:nvPr/>
        </p:nvSpPr>
        <p:spPr>
          <a:xfrm>
            <a:off x="-182880" y="2596896"/>
            <a:ext cx="146304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7" name="Google Shape;87;p1"/>
          <p:cNvSpPr/>
          <p:nvPr/>
        </p:nvSpPr>
        <p:spPr>
          <a:xfrm>
            <a:off x="-182880" y="2999232"/>
            <a:ext cx="105156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8" name="Google Shape;88;p1"/>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1" name="Google Shape;91;p1"/>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2;p1"/>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7" name="Google Shape;97;p1"/>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9" name="Google Shape;99;p1"/>
          <p:cNvSpPr/>
          <p:nvPr/>
        </p:nvSpPr>
        <p:spPr>
          <a:xfrm>
            <a:off x="9601200" y="640080"/>
            <a:ext cx="109728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0" name="Google Shape;100;p1"/>
          <p:cNvSpPr/>
          <p:nvPr/>
        </p:nvSpPr>
        <p:spPr>
          <a:xfrm>
            <a:off x="956005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1" name="Google Shape;101;p1"/>
          <p:cNvSpPr/>
          <p:nvPr/>
        </p:nvSpPr>
        <p:spPr>
          <a:xfrm>
            <a:off x="1065733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2" name="Google Shape;102;p1"/>
          <p:cNvSpPr/>
          <p:nvPr/>
        </p:nvSpPr>
        <p:spPr>
          <a:xfrm>
            <a:off x="1463040" y="5303520"/>
            <a:ext cx="1005840" cy="73152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3" name="Google Shape;103;p1"/>
          <p:cNvSpPr/>
          <p:nvPr/>
        </p:nvSpPr>
        <p:spPr>
          <a:xfrm>
            <a:off x="1421892" y="56281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
          <p:cNvSpPr/>
          <p:nvPr/>
        </p:nvSpPr>
        <p:spPr>
          <a:xfrm>
            <a:off x="2427732" y="526237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
          <p:cNvSpPr/>
          <p:nvPr/>
        </p:nvSpPr>
        <p:spPr>
          <a:xfrm rot="10800000">
            <a:off x="1645920" y="758952"/>
            <a:ext cx="219456" cy="256032"/>
          </a:xfrm>
          <a:prstGeom prst="triangle">
            <a:avLst>
              <a:gd name="adj" fmla="val 50000"/>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6" name="Google Shape;106;p1"/>
          <p:cNvSpPr/>
          <p:nvPr/>
        </p:nvSpPr>
        <p:spPr>
          <a:xfrm>
            <a:off x="1673352" y="685800"/>
            <a:ext cx="164592" cy="91440"/>
          </a:xfrm>
          <a:prstGeom prst="roundRect">
            <a:avLst>
              <a:gd name="adj" fmla="val 20000"/>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7" name="Google Shape;107;p1"/>
          <p:cNvSpPr/>
          <p:nvPr/>
        </p:nvSpPr>
        <p:spPr>
          <a:xfrm>
            <a:off x="1732788" y="822960"/>
            <a:ext cx="45720" cy="45720"/>
          </a:xfrm>
          <a:prstGeom prst="ellipse">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8" name="Google Shape;108;p1"/>
          <p:cNvSpPr/>
          <p:nvPr/>
        </p:nvSpPr>
        <p:spPr>
          <a:xfrm>
            <a:off x="1751076" y="868680"/>
            <a:ext cx="19050" cy="13716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9" name="Google Shape;109;p1"/>
          <p:cNvSpPr txBox="1"/>
          <p:nvPr/>
        </p:nvSpPr>
        <p:spPr>
          <a:xfrm>
            <a:off x="1645920" y="1078992"/>
            <a:ext cx="9144000" cy="1554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5600" b="1" i="0" u="none" strike="noStrike" cap="none">
                <a:solidFill>
                  <a:srgbClr val="353334"/>
                </a:solidFill>
                <a:latin typeface="Fjalla One"/>
                <a:ea typeface="Fjalla One"/>
                <a:cs typeface="Fjalla One"/>
                <a:sym typeface="Fjalla One"/>
              </a:rPr>
              <a:t>DATAQUEST 3.0</a:t>
            </a:r>
            <a:endParaRPr/>
          </a:p>
          <a:p>
            <a:pPr marL="0" marR="0" lvl="0" indent="0" algn="l" rtl="0">
              <a:spcBef>
                <a:spcPts val="200"/>
              </a:spcBef>
              <a:spcAft>
                <a:spcPts val="0"/>
              </a:spcAft>
              <a:buNone/>
            </a:pPr>
            <a:r>
              <a:rPr lang="en-US" sz="3200" b="1" i="0" u="none" strike="noStrike" cap="none">
                <a:solidFill>
                  <a:srgbClr val="FD1485"/>
                </a:solidFill>
                <a:latin typeface="Fjalla One"/>
                <a:ea typeface="Fjalla One"/>
                <a:cs typeface="Fjalla One"/>
                <a:sym typeface="Fjalla One"/>
              </a:rPr>
              <a:t>ROUND 1</a:t>
            </a:r>
            <a:endParaRPr/>
          </a:p>
        </p:txBody>
      </p:sp>
      <p:sp>
        <p:nvSpPr>
          <p:cNvPr id="110" name="Google Shape;110;p1"/>
          <p:cNvSpPr/>
          <p:nvPr/>
        </p:nvSpPr>
        <p:spPr>
          <a:xfrm>
            <a:off x="1645920" y="2578608"/>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1" name="Google Shape;111;p1"/>
          <p:cNvSpPr txBox="1"/>
          <p:nvPr/>
        </p:nvSpPr>
        <p:spPr>
          <a:xfrm>
            <a:off x="1645920" y="2670048"/>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353334"/>
                </a:solidFill>
                <a:latin typeface="Mulish"/>
                <a:ea typeface="Mulish"/>
                <a:cs typeface="Mulish"/>
                <a:sym typeface="Mulish"/>
              </a:rPr>
              <a:t>OFFICIAL PARTICIPANT PPT TEMPLATE</a:t>
            </a:r>
            <a:endParaRPr/>
          </a:p>
        </p:txBody>
      </p:sp>
      <p:sp>
        <p:nvSpPr>
          <p:cNvPr id="112" name="Google Shape;112;p1"/>
          <p:cNvSpPr/>
          <p:nvPr/>
        </p:nvSpPr>
        <p:spPr>
          <a:xfrm>
            <a:off x="1645920" y="3246120"/>
            <a:ext cx="4572000" cy="292608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1"/>
          <p:cNvSpPr/>
          <p:nvPr/>
        </p:nvSpPr>
        <p:spPr>
          <a:xfrm>
            <a:off x="1965960" y="3118104"/>
            <a:ext cx="1600200" cy="256032"/>
          </a:xfrm>
          <a:prstGeom prst="roundRect">
            <a:avLst>
              <a:gd name="adj" fmla="val 50000"/>
            </a:avLst>
          </a:prstGeom>
          <a:solidFill>
            <a:srgbClr val="079ED2"/>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i="0" u="none" strike="noStrike" cap="none">
                <a:solidFill>
                  <a:srgbClr val="FFFFFF"/>
                </a:solidFill>
                <a:latin typeface="Mulish"/>
                <a:ea typeface="Mulish"/>
                <a:cs typeface="Mulish"/>
                <a:sym typeface="Mulish"/>
              </a:rPr>
              <a:t>PROJECT DETAILS</a:t>
            </a:r>
            <a:endParaRPr/>
          </a:p>
        </p:txBody>
      </p:sp>
      <p:sp>
        <p:nvSpPr>
          <p:cNvPr id="114" name="Google Shape;114;p1"/>
          <p:cNvSpPr txBox="1"/>
          <p:nvPr/>
        </p:nvSpPr>
        <p:spPr>
          <a:xfrm>
            <a:off x="1920240" y="3520440"/>
            <a:ext cx="4023300" cy="2019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0" u="none" strike="noStrike" cap="none" dirty="0">
                <a:solidFill>
                  <a:srgbClr val="353334"/>
                </a:solidFill>
                <a:latin typeface="Fjalla One"/>
                <a:ea typeface="Fjalla One"/>
                <a:cs typeface="Fjalla One"/>
                <a:sym typeface="Fjalla One"/>
              </a:rPr>
              <a:t>PROJECT TITLE</a:t>
            </a:r>
            <a:endParaRPr dirty="0"/>
          </a:p>
          <a:p>
            <a:pPr marL="0" marR="0" lvl="0" indent="0" algn="l" rtl="0">
              <a:spcBef>
                <a:spcPts val="200"/>
              </a:spcBef>
              <a:spcAft>
                <a:spcPts val="0"/>
              </a:spcAft>
              <a:buNone/>
            </a:pPr>
            <a:r>
              <a:rPr lang="en-US" sz="1600" b="1" dirty="0">
                <a:solidFill>
                  <a:srgbClr val="FD1485"/>
                </a:solidFill>
                <a:latin typeface="Fjalla One"/>
                <a:ea typeface="Fjalla One"/>
                <a:cs typeface="Fjalla One"/>
                <a:sym typeface="Fjalla One"/>
              </a:rPr>
              <a:t>Service Sync</a:t>
            </a:r>
            <a:endParaRPr dirty="0"/>
          </a:p>
          <a:p>
            <a:pPr marL="0" marR="0" lvl="0" indent="0" algn="l" rtl="0">
              <a:spcBef>
                <a:spcPts val="1000"/>
              </a:spcBef>
              <a:spcAft>
                <a:spcPts val="0"/>
              </a:spcAft>
              <a:buNone/>
            </a:pPr>
            <a:r>
              <a:rPr lang="en-US" sz="1100" b="1" i="0" u="none" strike="noStrike" cap="none" dirty="0">
                <a:solidFill>
                  <a:srgbClr val="353334"/>
                </a:solidFill>
                <a:latin typeface="Fjalla One"/>
                <a:ea typeface="Fjalla One"/>
                <a:cs typeface="Fjalla One"/>
                <a:sym typeface="Fjalla One"/>
              </a:rPr>
              <a:t>ONE-LINE PITCH</a:t>
            </a:r>
            <a:endParaRPr dirty="0"/>
          </a:p>
          <a:p>
            <a:pPr marL="0" marR="0" lvl="0" indent="0" algn="l" rtl="0">
              <a:spcBef>
                <a:spcPts val="200"/>
              </a:spcBef>
              <a:spcAft>
                <a:spcPts val="0"/>
              </a:spcAft>
              <a:buNone/>
            </a:pPr>
            <a:r>
              <a:rPr lang="en-US" sz="1100" dirty="0">
                <a:solidFill>
                  <a:schemeClr val="dk1"/>
                </a:solidFill>
              </a:rPr>
              <a:t>A single full-stack platform that takes an equipment service request from creation to verified completion, matching technicians and parts automatically and flagging problems the moment they happen. </a:t>
            </a:r>
            <a:endParaRPr dirty="0"/>
          </a:p>
          <a:p>
            <a:pPr marL="0" marR="0" lvl="0" indent="0" algn="l" rtl="0">
              <a:spcBef>
                <a:spcPts val="1000"/>
              </a:spcBef>
              <a:spcAft>
                <a:spcPts val="0"/>
              </a:spcAft>
              <a:buNone/>
            </a:pPr>
            <a:r>
              <a:rPr lang="en-US" sz="1100" b="1" i="0" u="none" strike="noStrike" cap="none" dirty="0">
                <a:solidFill>
                  <a:srgbClr val="353334"/>
                </a:solidFill>
                <a:latin typeface="Fjalla One"/>
                <a:ea typeface="Fjalla One"/>
                <a:cs typeface="Fjalla One"/>
                <a:sym typeface="Fjalla One"/>
              </a:rPr>
              <a:t>TRACK</a:t>
            </a:r>
            <a:endParaRPr dirty="0"/>
          </a:p>
          <a:p>
            <a:pPr marL="0" marR="0" lvl="0" indent="0" algn="l" rtl="0">
              <a:spcBef>
                <a:spcPts val="200"/>
              </a:spcBef>
              <a:spcAft>
                <a:spcPts val="0"/>
              </a:spcAft>
              <a:buNone/>
            </a:pPr>
            <a:r>
              <a:rPr lang="en-US" sz="1050" b="1" dirty="0">
                <a:solidFill>
                  <a:srgbClr val="079ED2"/>
                </a:solidFill>
                <a:latin typeface="Mulish"/>
                <a:ea typeface="Mulish"/>
                <a:cs typeface="Mulish"/>
                <a:sym typeface="Mulish"/>
              </a:rPr>
              <a:t>Enterprise SaaS &amp; Workflow Automation</a:t>
            </a:r>
            <a:endParaRPr dirty="0"/>
          </a:p>
        </p:txBody>
      </p:sp>
      <p:sp>
        <p:nvSpPr>
          <p:cNvPr id="115" name="Google Shape;115;p1"/>
          <p:cNvSpPr/>
          <p:nvPr/>
        </p:nvSpPr>
        <p:spPr>
          <a:xfrm>
            <a:off x="6492240" y="3246120"/>
            <a:ext cx="4572000" cy="292608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6" name="Google Shape;116;p1"/>
          <p:cNvSpPr/>
          <p:nvPr/>
        </p:nvSpPr>
        <p:spPr>
          <a:xfrm>
            <a:off x="6812280" y="3118104"/>
            <a:ext cx="1600200" cy="256032"/>
          </a:xfrm>
          <a:prstGeom prst="roundRect">
            <a:avLst>
              <a:gd name="adj" fmla="val 50000"/>
            </a:avLst>
          </a:prstGeom>
          <a:solidFill>
            <a:srgbClr val="FFB903"/>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i="0" u="none" strike="noStrike" cap="none">
                <a:solidFill>
                  <a:srgbClr val="353334"/>
                </a:solidFill>
                <a:latin typeface="Mulish"/>
                <a:ea typeface="Mulish"/>
                <a:cs typeface="Mulish"/>
                <a:sym typeface="Mulish"/>
              </a:rPr>
              <a:t>TEAM &amp; MEMBERS</a:t>
            </a:r>
            <a:endParaRPr/>
          </a:p>
        </p:txBody>
      </p:sp>
      <p:sp>
        <p:nvSpPr>
          <p:cNvPr id="117" name="Google Shape;117;p1"/>
          <p:cNvSpPr txBox="1"/>
          <p:nvPr/>
        </p:nvSpPr>
        <p:spPr>
          <a:xfrm>
            <a:off x="6766560" y="3520440"/>
            <a:ext cx="4023300" cy="195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0" u="none" strike="noStrike" cap="none">
                <a:solidFill>
                  <a:srgbClr val="353334"/>
                </a:solidFill>
                <a:latin typeface="Fjalla One"/>
                <a:ea typeface="Fjalla One"/>
                <a:cs typeface="Fjalla One"/>
                <a:sym typeface="Fjalla One"/>
              </a:rPr>
              <a:t>TEAM</a:t>
            </a:r>
            <a:endParaRPr/>
          </a:p>
          <a:p>
            <a:pPr marL="0" marR="0" lvl="0" indent="0" algn="l" rtl="0">
              <a:spcBef>
                <a:spcPts val="200"/>
              </a:spcBef>
              <a:spcAft>
                <a:spcPts val="0"/>
              </a:spcAft>
              <a:buNone/>
            </a:pPr>
            <a:r>
              <a:rPr lang="en-US" sz="1600" b="1">
                <a:solidFill>
                  <a:srgbClr val="353334"/>
                </a:solidFill>
                <a:latin typeface="Fjalla One"/>
                <a:ea typeface="Fjalla One"/>
                <a:cs typeface="Fjalla One"/>
                <a:sym typeface="Fjalla One"/>
              </a:rPr>
              <a:t>6’5 Feminists</a:t>
            </a:r>
            <a:endParaRPr/>
          </a:p>
          <a:p>
            <a:pPr marL="0" marR="0" lvl="0" indent="0" algn="l" rtl="0">
              <a:spcBef>
                <a:spcPts val="1000"/>
              </a:spcBef>
              <a:spcAft>
                <a:spcPts val="0"/>
              </a:spcAft>
              <a:buNone/>
            </a:pPr>
            <a:r>
              <a:rPr lang="en-US" sz="1100" b="1" i="0" u="none" strike="noStrike" cap="none">
                <a:solidFill>
                  <a:srgbClr val="353334"/>
                </a:solidFill>
                <a:latin typeface="Fjalla One"/>
                <a:ea typeface="Fjalla One"/>
                <a:cs typeface="Fjalla One"/>
                <a:sym typeface="Fjalla One"/>
              </a:rPr>
              <a:t>PARTICIPANTS</a:t>
            </a:r>
            <a:endParaRPr/>
          </a:p>
          <a:p>
            <a:pPr marL="0" marR="0" lvl="0" indent="0" algn="l" rtl="0">
              <a:spcBef>
                <a:spcPts val="200"/>
              </a:spcBef>
              <a:spcAft>
                <a:spcPts val="0"/>
              </a:spcAft>
              <a:buNone/>
            </a:pPr>
            <a:r>
              <a:rPr lang="en-US" sz="1050" b="0" i="0" u="none" strike="noStrike" cap="none">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Kanu Kaushal - 26BCE1922</a:t>
            </a:r>
            <a:endParaRPr/>
          </a:p>
          <a:p>
            <a:pPr marL="0" marR="0" lvl="0" indent="0" algn="l" rtl="0">
              <a:spcBef>
                <a:spcPts val="200"/>
              </a:spcBef>
              <a:spcAft>
                <a:spcPts val="0"/>
              </a:spcAft>
              <a:buNone/>
            </a:pPr>
            <a:r>
              <a:rPr lang="en-US" sz="1050" b="0" i="0" u="none" strike="noStrike" cap="none">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Riddhiman Rawat - 26BCE5218</a:t>
            </a:r>
            <a:endParaRPr/>
          </a:p>
          <a:p>
            <a:pPr marL="0" marR="0" lvl="0" indent="0" algn="l" rtl="0">
              <a:spcBef>
                <a:spcPts val="200"/>
              </a:spcBef>
              <a:spcAft>
                <a:spcPts val="0"/>
              </a:spcAft>
              <a:buNone/>
            </a:pPr>
            <a:r>
              <a:rPr lang="en-US" sz="1050" b="0" i="0" u="none" strike="noStrike" cap="none">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Prakhar Singh - 26BCE5532</a:t>
            </a:r>
            <a:endParaRPr sz="1050">
              <a:solidFill>
                <a:srgbClr val="3C3C41"/>
              </a:solidFill>
              <a:latin typeface="Mulish"/>
              <a:ea typeface="Mulish"/>
              <a:cs typeface="Mulish"/>
              <a:sym typeface="Mulish"/>
            </a:endParaRPr>
          </a:p>
          <a:p>
            <a:pPr marL="0" marR="0" lvl="0" indent="0" algn="l" rtl="0">
              <a:spcBef>
                <a:spcPts val="200"/>
              </a:spcBef>
              <a:spcAft>
                <a:spcPts val="0"/>
              </a:spcAft>
              <a:buNone/>
            </a:pPr>
            <a:r>
              <a:rPr lang="en-US" sz="1050" b="0" i="0" u="none" strike="noStrike" cap="none">
                <a:solidFill>
                  <a:srgbClr val="3C3C41"/>
                </a:solidFill>
                <a:latin typeface="Mulish"/>
                <a:ea typeface="Mulish"/>
                <a:cs typeface="Mulish"/>
                <a:sym typeface="Mulish"/>
              </a:rPr>
              <a:t>•  </a:t>
            </a:r>
            <a:r>
              <a:rPr lang="en-US" sz="1050">
                <a:solidFill>
                  <a:srgbClr val="3C3C41"/>
                </a:solidFill>
                <a:latin typeface="Mulish"/>
                <a:ea typeface="Mulish"/>
                <a:cs typeface="Mulish"/>
                <a:sym typeface="Mulish"/>
              </a:rPr>
              <a:t>Diya Sijo - 26BMH1051</a:t>
            </a:r>
            <a:endParaRPr sz="1050">
              <a:solidFill>
                <a:srgbClr val="3C3C41"/>
              </a:solidFill>
              <a:latin typeface="Mulish"/>
              <a:ea typeface="Mulish"/>
              <a:cs typeface="Mulish"/>
              <a:sym typeface="Mulish"/>
            </a:endParaRPr>
          </a:p>
          <a:p>
            <a:pPr marL="0" marR="0" lvl="0" indent="0" algn="l" rtl="0">
              <a:spcBef>
                <a:spcPts val="200"/>
              </a:spcBef>
              <a:spcAft>
                <a:spcPts val="0"/>
              </a:spcAft>
              <a:buNone/>
            </a:pPr>
            <a:r>
              <a:rPr lang="en-US" sz="1050">
                <a:solidFill>
                  <a:srgbClr val="3C3C41"/>
                </a:solidFill>
                <a:latin typeface="Mulish"/>
                <a:ea typeface="Mulish"/>
                <a:cs typeface="Mulish"/>
                <a:sym typeface="Mulish"/>
              </a:rPr>
              <a:t>•  Pratyashi Kashyap - 26BMH1224</a:t>
            </a:r>
            <a:endParaRPr sz="1050">
              <a:solidFill>
                <a:srgbClr val="3C3C41"/>
              </a:solidFill>
              <a:latin typeface="Mulish"/>
              <a:ea typeface="Mulish"/>
              <a:cs typeface="Mulish"/>
              <a:sym typeface="Mulish"/>
            </a:endParaRPr>
          </a:p>
          <a:p>
            <a:pPr marL="0" marR="0" lvl="0" indent="0" algn="l" rtl="0">
              <a:spcBef>
                <a:spcPts val="200"/>
              </a:spcBef>
              <a:spcAft>
                <a:spcPts val="0"/>
              </a:spcAft>
              <a:buNone/>
            </a:pPr>
            <a:r>
              <a:rPr lang="en-US" sz="1050">
                <a:solidFill>
                  <a:srgbClr val="3C3C41"/>
                </a:solidFill>
                <a:latin typeface="Mulish"/>
                <a:ea typeface="Mulish"/>
                <a:cs typeface="Mulish"/>
                <a:sym typeface="Mulish"/>
              </a:rPr>
              <a:t>•  Vaishnavi Sharma Raman - 26BMH1167</a:t>
            </a:r>
            <a:endParaRPr sz="1050">
              <a:solidFill>
                <a:srgbClr val="3C3C41"/>
              </a:solidFill>
              <a:latin typeface="Mulish"/>
              <a:ea typeface="Mulish"/>
              <a:cs typeface="Mulish"/>
              <a:sym typeface="Mulish"/>
            </a:endParaRP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3" name="Google Shape;123;p2"/>
          <p:cNvSpPr/>
          <p:nvPr/>
        </p:nvSpPr>
        <p:spPr>
          <a:xfrm>
            <a:off x="-182880" y="1051560"/>
            <a:ext cx="105156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4" name="Google Shape;124;p2"/>
          <p:cNvSpPr/>
          <p:nvPr/>
        </p:nvSpPr>
        <p:spPr>
          <a:xfrm>
            <a:off x="-182880" y="1453896"/>
            <a:ext cx="146304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5" name="Google Shape;125;p2"/>
          <p:cNvSpPr/>
          <p:nvPr/>
        </p:nvSpPr>
        <p:spPr>
          <a:xfrm>
            <a:off x="-182880" y="1856232"/>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6" name="Google Shape;126;p2"/>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7" name="Google Shape;127;p2"/>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8" name="Google Shape;128;p2"/>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9" name="Google Shape;129;p2"/>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130;p2"/>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2"/>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2" name="Google Shape;132;p2"/>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3" name="Google Shape;133;p2"/>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4" name="Google Shape;134;p2"/>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5" name="Google Shape;135;p2"/>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6" name="Google Shape;136;p2"/>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7" name="Google Shape;137;p2"/>
          <p:cNvSpPr/>
          <p:nvPr/>
        </p:nvSpPr>
        <p:spPr>
          <a:xfrm>
            <a:off x="8412480" y="640080"/>
            <a:ext cx="100584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8" name="Google Shape;138;p2"/>
          <p:cNvSpPr/>
          <p:nvPr/>
        </p:nvSpPr>
        <p:spPr>
          <a:xfrm>
            <a:off x="837133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9" name="Google Shape;139;p2"/>
          <p:cNvSpPr/>
          <p:nvPr/>
        </p:nvSpPr>
        <p:spPr>
          <a:xfrm>
            <a:off x="937717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0" name="Google Shape;140;p2"/>
          <p:cNvSpPr txBox="1"/>
          <p:nvPr/>
        </p:nvSpPr>
        <p:spPr>
          <a:xfrm>
            <a:off x="1645920" y="384048"/>
            <a:ext cx="82296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53334"/>
                </a:solidFill>
                <a:latin typeface="Mulish"/>
                <a:ea typeface="Mulish"/>
                <a:cs typeface="Mulish"/>
                <a:sym typeface="Mulish"/>
              </a:rPr>
              <a:t>DATAQUEST 3.0  ·  ROUND 1</a:t>
            </a:r>
            <a:endParaRPr/>
          </a:p>
        </p:txBody>
      </p:sp>
      <p:sp>
        <p:nvSpPr>
          <p:cNvPr id="141" name="Google Shape;141;p2"/>
          <p:cNvSpPr txBox="1"/>
          <p:nvPr/>
        </p:nvSpPr>
        <p:spPr>
          <a:xfrm>
            <a:off x="1645920" y="621792"/>
            <a:ext cx="9144000" cy="7772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D1485"/>
                </a:solidFill>
                <a:latin typeface="Fjalla One"/>
                <a:ea typeface="Fjalla One"/>
                <a:cs typeface="Fjalla One"/>
                <a:sym typeface="Fjalla One"/>
              </a:rPr>
              <a:t>02  </a:t>
            </a:r>
            <a:r>
              <a:rPr lang="en-US" sz="3200" b="1" i="0" u="none" strike="noStrike" cap="none">
                <a:solidFill>
                  <a:srgbClr val="353334"/>
                </a:solidFill>
                <a:latin typeface="Fjalla One"/>
                <a:ea typeface="Fjalla One"/>
                <a:cs typeface="Fjalla One"/>
                <a:sym typeface="Fjalla One"/>
              </a:rPr>
              <a:t>Problem Definition</a:t>
            </a:r>
            <a:endParaRPr/>
          </a:p>
        </p:txBody>
      </p:sp>
      <p:sp>
        <p:nvSpPr>
          <p:cNvPr id="142" name="Google Shape;142;p2"/>
          <p:cNvSpPr/>
          <p:nvPr/>
        </p:nvSpPr>
        <p:spPr>
          <a:xfrm>
            <a:off x="1645920" y="1444752"/>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2"/>
          <p:cNvSpPr txBox="1"/>
          <p:nvPr/>
        </p:nvSpPr>
        <p:spPr>
          <a:xfrm>
            <a:off x="1645920" y="1517904"/>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6E6E73"/>
                </a:solidFill>
                <a:latin typeface="Mulish"/>
                <a:ea typeface="Mulish"/>
                <a:cs typeface="Mulish"/>
                <a:sym typeface="Mulish"/>
              </a:rPr>
              <a:t>Who is impacted · Today's workarounds · Why current methods fail · Concrete proof</a:t>
            </a:r>
            <a:endParaRPr/>
          </a:p>
        </p:txBody>
      </p:sp>
      <p:sp>
        <p:nvSpPr>
          <p:cNvPr id="144" name="Google Shape;144;p2"/>
          <p:cNvSpPr/>
          <p:nvPr/>
        </p:nvSpPr>
        <p:spPr>
          <a:xfrm>
            <a:off x="1645920" y="205740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 name="Google Shape;145;p2"/>
          <p:cNvSpPr/>
          <p:nvPr/>
        </p:nvSpPr>
        <p:spPr>
          <a:xfrm>
            <a:off x="1965960" y="1929384"/>
            <a:ext cx="1600200" cy="256032"/>
          </a:xfrm>
          <a:prstGeom prst="roundRect">
            <a:avLst>
              <a:gd name="adj" fmla="val 50000"/>
            </a:avLst>
          </a:prstGeom>
          <a:solidFill>
            <a:srgbClr val="079ED2"/>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01 · AUDIENCE</a:t>
            </a:r>
            <a:endParaRPr/>
          </a:p>
        </p:txBody>
      </p:sp>
      <p:sp>
        <p:nvSpPr>
          <p:cNvPr id="146" name="Google Shape;146;p2"/>
          <p:cNvSpPr txBox="1"/>
          <p:nvPr/>
        </p:nvSpPr>
        <p:spPr>
          <a:xfrm>
            <a:off x="1920240" y="2313432"/>
            <a:ext cx="4023300" cy="1298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53334"/>
                </a:solidFill>
                <a:latin typeface="Fjalla One"/>
                <a:ea typeface="Fjalla One"/>
                <a:cs typeface="Fjalla One"/>
                <a:sym typeface="Fjalla One"/>
              </a:rPr>
              <a:t>WHO &amp; HOW OFTEN</a:t>
            </a:r>
            <a:endParaRPr sz="1600"/>
          </a:p>
          <a:p>
            <a:pPr marL="0" marR="0" lvl="0" indent="0" algn="l" rtl="0">
              <a:spcBef>
                <a:spcPts val="400"/>
              </a:spcBef>
              <a:spcAft>
                <a:spcPts val="0"/>
              </a:spcAft>
              <a:buNone/>
            </a:pPr>
            <a:r>
              <a:rPr lang="en-US" sz="1200">
                <a:solidFill>
                  <a:srgbClr val="3C3C41"/>
                </a:solidFill>
                <a:latin typeface="Mulish"/>
                <a:ea typeface="Mulish"/>
                <a:cs typeface="Mulish"/>
                <a:sym typeface="Mulish"/>
              </a:rPr>
              <a:t>Service operations teams, dispatchers and field technicians at organizations that maintain industrial equipment across multiple customer sites. Every urgent request, such as Machine M-104 at Site A, runs into the problem. </a:t>
            </a:r>
            <a:endParaRPr sz="1600"/>
          </a:p>
        </p:txBody>
      </p:sp>
      <p:sp>
        <p:nvSpPr>
          <p:cNvPr id="147" name="Google Shape;147;p2"/>
          <p:cNvSpPr/>
          <p:nvPr/>
        </p:nvSpPr>
        <p:spPr>
          <a:xfrm>
            <a:off x="6492240" y="205740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2"/>
          <p:cNvSpPr/>
          <p:nvPr/>
        </p:nvSpPr>
        <p:spPr>
          <a:xfrm>
            <a:off x="6812280" y="1929384"/>
            <a:ext cx="1600200" cy="256032"/>
          </a:xfrm>
          <a:prstGeom prst="roundRect">
            <a:avLst>
              <a:gd name="adj" fmla="val 50000"/>
            </a:avLst>
          </a:prstGeom>
          <a:solidFill>
            <a:srgbClr val="FFB903"/>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353334"/>
                </a:solidFill>
                <a:latin typeface="Mulish"/>
                <a:ea typeface="Mulish"/>
                <a:cs typeface="Mulish"/>
                <a:sym typeface="Mulish"/>
              </a:rPr>
              <a:t>02 · STATUS QUO</a:t>
            </a:r>
            <a:endParaRPr/>
          </a:p>
        </p:txBody>
      </p:sp>
      <p:sp>
        <p:nvSpPr>
          <p:cNvPr id="149" name="Google Shape;149;p2"/>
          <p:cNvSpPr txBox="1"/>
          <p:nvPr/>
        </p:nvSpPr>
        <p:spPr>
          <a:xfrm>
            <a:off x="6766560" y="2313432"/>
            <a:ext cx="4023300" cy="1113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53334"/>
                </a:solidFill>
                <a:latin typeface="Fjalla One"/>
                <a:ea typeface="Fjalla One"/>
                <a:cs typeface="Fjalla One"/>
                <a:sym typeface="Fjalla One"/>
              </a:rPr>
              <a:t>CURRENT APPROACH</a:t>
            </a:r>
            <a:endParaRPr sz="1600"/>
          </a:p>
          <a:p>
            <a:pPr marL="0" marR="0" lvl="0" indent="0" algn="l" rtl="0">
              <a:spcBef>
                <a:spcPts val="400"/>
              </a:spcBef>
              <a:spcAft>
                <a:spcPts val="0"/>
              </a:spcAft>
              <a:buNone/>
            </a:pPr>
            <a:r>
              <a:rPr lang="en-US" sz="1200">
                <a:solidFill>
                  <a:srgbClr val="3C3C41"/>
                </a:solidFill>
                <a:latin typeface="Mulish"/>
                <a:ea typeface="Mulish"/>
                <a:cs typeface="Mulish"/>
                <a:sym typeface="Mulish"/>
              </a:rPr>
              <a:t>Requests, technician schedules, spare-parts stock and completion checks are handled through disconnected tools, spreadsheets and messaging apps. Ops teams check technician and part availability by hand. </a:t>
            </a:r>
            <a:endParaRPr sz="1600"/>
          </a:p>
        </p:txBody>
      </p:sp>
      <p:sp>
        <p:nvSpPr>
          <p:cNvPr id="150" name="Google Shape;150;p2"/>
          <p:cNvSpPr/>
          <p:nvPr/>
        </p:nvSpPr>
        <p:spPr>
          <a:xfrm>
            <a:off x="1645920" y="438912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2"/>
          <p:cNvSpPr/>
          <p:nvPr/>
        </p:nvSpPr>
        <p:spPr>
          <a:xfrm>
            <a:off x="1965960" y="4261104"/>
            <a:ext cx="1600200" cy="256032"/>
          </a:xfrm>
          <a:prstGeom prst="roundRect">
            <a:avLst>
              <a:gd name="adj" fmla="val 50000"/>
            </a:avLst>
          </a:prstGeom>
          <a:solidFill>
            <a:srgbClr val="FD1485"/>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03 · DEFICIENCY</a:t>
            </a:r>
            <a:endParaRPr/>
          </a:p>
        </p:txBody>
      </p:sp>
      <p:sp>
        <p:nvSpPr>
          <p:cNvPr id="152" name="Google Shape;152;p2"/>
          <p:cNvSpPr txBox="1"/>
          <p:nvPr/>
        </p:nvSpPr>
        <p:spPr>
          <a:xfrm>
            <a:off x="1920240" y="4645152"/>
            <a:ext cx="4023300" cy="1113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53334"/>
                </a:solidFill>
                <a:latin typeface="Fjalla One"/>
                <a:ea typeface="Fjalla One"/>
                <a:cs typeface="Fjalla One"/>
                <a:sym typeface="Fjalla One"/>
              </a:rPr>
              <a:t>WHY IT FALLS SHORT</a:t>
            </a:r>
            <a:endParaRPr sz="1600"/>
          </a:p>
          <a:p>
            <a:pPr marL="0" marR="0" lvl="0" indent="0" algn="l" rtl="0">
              <a:spcBef>
                <a:spcPts val="400"/>
              </a:spcBef>
              <a:spcAft>
                <a:spcPts val="0"/>
              </a:spcAft>
              <a:buNone/>
            </a:pPr>
            <a:r>
              <a:rPr lang="en-US" sz="1200">
                <a:solidFill>
                  <a:srgbClr val="3C3C41"/>
                </a:solidFill>
                <a:latin typeface="Mulish"/>
                <a:ea typeface="Mulish"/>
                <a:cs typeface="Mulish"/>
                <a:sym typeface="Mulish"/>
              </a:rPr>
              <a:t>There is no real-time visibility. Resource conflicts and delays are found only after they hit the schedule. Technician dropouts are handled ad hoc, and reports and photos are collected and verified manually. </a:t>
            </a:r>
            <a:endParaRPr sz="1600"/>
          </a:p>
        </p:txBody>
      </p:sp>
      <p:sp>
        <p:nvSpPr>
          <p:cNvPr id="153" name="Google Shape;153;p2"/>
          <p:cNvSpPr/>
          <p:nvPr/>
        </p:nvSpPr>
        <p:spPr>
          <a:xfrm>
            <a:off x="6492240" y="438912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2"/>
          <p:cNvSpPr/>
          <p:nvPr/>
        </p:nvSpPr>
        <p:spPr>
          <a:xfrm>
            <a:off x="6812280" y="4261104"/>
            <a:ext cx="1600200" cy="256032"/>
          </a:xfrm>
          <a:prstGeom prst="roundRect">
            <a:avLst>
              <a:gd name="adj" fmla="val 50000"/>
            </a:avLst>
          </a:prstGeom>
          <a:solidFill>
            <a:srgbClr val="353334"/>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04 · VALIDATION</a:t>
            </a:r>
            <a:endParaRPr/>
          </a:p>
        </p:txBody>
      </p:sp>
      <p:sp>
        <p:nvSpPr>
          <p:cNvPr id="155" name="Google Shape;155;p2"/>
          <p:cNvSpPr txBox="1"/>
          <p:nvPr/>
        </p:nvSpPr>
        <p:spPr>
          <a:xfrm>
            <a:off x="6766560" y="4645152"/>
            <a:ext cx="4023300" cy="92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rgbClr val="353334"/>
                </a:solidFill>
                <a:latin typeface="Fjalla One"/>
                <a:ea typeface="Fjalla One"/>
                <a:cs typeface="Fjalla One"/>
                <a:sym typeface="Fjalla One"/>
              </a:rPr>
              <a:t>EVIDENCE</a:t>
            </a:r>
            <a:endParaRPr sz="1600" dirty="0"/>
          </a:p>
          <a:p>
            <a:pPr marL="0" marR="0" lvl="0" indent="0" algn="l" rtl="0">
              <a:spcBef>
                <a:spcPts val="400"/>
              </a:spcBef>
              <a:spcAft>
                <a:spcPts val="0"/>
              </a:spcAft>
              <a:buNone/>
            </a:pPr>
            <a:r>
              <a:rPr lang="en-US" sz="1200" dirty="0">
                <a:solidFill>
                  <a:srgbClr val="3C3C41"/>
                </a:solidFill>
                <a:latin typeface="Mulish"/>
                <a:ea typeface="Mulish"/>
                <a:cs typeface="Mulish"/>
                <a:sym typeface="Mulish"/>
              </a:rPr>
              <a:t>The symptoms themselves come from the problem statement: delayed maintenance, duplicated work and an </a:t>
            </a:r>
            <a:r>
              <a:rPr lang="en-US" sz="1200" dirty="0" err="1">
                <a:solidFill>
                  <a:srgbClr val="3C3C41"/>
                </a:solidFill>
                <a:latin typeface="Mulish"/>
                <a:ea typeface="Mulish"/>
                <a:cs typeface="Mulish"/>
                <a:sym typeface="Mulish"/>
              </a:rPr>
              <a:t>unreconstructable</a:t>
            </a:r>
            <a:r>
              <a:rPr lang="en-US" sz="1200" dirty="0">
                <a:solidFill>
                  <a:srgbClr val="3C3C41"/>
                </a:solidFill>
                <a:latin typeface="Mulish"/>
                <a:ea typeface="Mulish"/>
                <a:cs typeface="Mulish"/>
                <a:sym typeface="Mulish"/>
              </a:rPr>
              <a:t> service history. </a:t>
            </a:r>
            <a:endParaRPr sz="1600" dirty="0"/>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 name="Google Shape;161;p3"/>
          <p:cNvSpPr/>
          <p:nvPr/>
        </p:nvSpPr>
        <p:spPr>
          <a:xfrm>
            <a:off x="-182880" y="1051560"/>
            <a:ext cx="105156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3"/>
          <p:cNvSpPr/>
          <p:nvPr/>
        </p:nvSpPr>
        <p:spPr>
          <a:xfrm>
            <a:off x="-182880" y="1453896"/>
            <a:ext cx="146304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 name="Google Shape;163;p3"/>
          <p:cNvSpPr/>
          <p:nvPr/>
        </p:nvSpPr>
        <p:spPr>
          <a:xfrm>
            <a:off x="-182880" y="1856232"/>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3"/>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3"/>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3"/>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3"/>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3"/>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3"/>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3"/>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3"/>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3"/>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3"/>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3"/>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 name="Google Shape;175;p3"/>
          <p:cNvSpPr/>
          <p:nvPr/>
        </p:nvSpPr>
        <p:spPr>
          <a:xfrm>
            <a:off x="8412480" y="640080"/>
            <a:ext cx="100584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3"/>
          <p:cNvSpPr/>
          <p:nvPr/>
        </p:nvSpPr>
        <p:spPr>
          <a:xfrm>
            <a:off x="837133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3"/>
          <p:cNvSpPr/>
          <p:nvPr/>
        </p:nvSpPr>
        <p:spPr>
          <a:xfrm>
            <a:off x="937717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3"/>
          <p:cNvSpPr txBox="1"/>
          <p:nvPr/>
        </p:nvSpPr>
        <p:spPr>
          <a:xfrm>
            <a:off x="1645920" y="384048"/>
            <a:ext cx="82296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a:solidFill>
                  <a:srgbClr val="353334"/>
                </a:solidFill>
                <a:latin typeface="Mulish"/>
                <a:ea typeface="Mulish"/>
                <a:cs typeface="Mulish"/>
                <a:sym typeface="Mulish"/>
              </a:rPr>
              <a:t>DATAQUEST 3.0  ·  ROUND 1</a:t>
            </a:r>
            <a:endParaRPr/>
          </a:p>
        </p:txBody>
      </p:sp>
      <p:sp>
        <p:nvSpPr>
          <p:cNvPr id="179" name="Google Shape;179;p3"/>
          <p:cNvSpPr txBox="1"/>
          <p:nvPr/>
        </p:nvSpPr>
        <p:spPr>
          <a:xfrm>
            <a:off x="1645920" y="621792"/>
            <a:ext cx="9144000" cy="7772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D1485"/>
                </a:solidFill>
                <a:latin typeface="Fjalla One"/>
                <a:ea typeface="Fjalla One"/>
                <a:cs typeface="Fjalla One"/>
                <a:sym typeface="Fjalla One"/>
              </a:rPr>
              <a:t>03  </a:t>
            </a:r>
            <a:r>
              <a:rPr lang="en-US" sz="3200" b="1">
                <a:solidFill>
                  <a:srgbClr val="353334"/>
                </a:solidFill>
                <a:latin typeface="Fjalla One"/>
                <a:ea typeface="Fjalla One"/>
                <a:cs typeface="Fjalla One"/>
                <a:sym typeface="Fjalla One"/>
              </a:rPr>
              <a:t>Proposed Solution</a:t>
            </a:r>
            <a:endParaRPr/>
          </a:p>
        </p:txBody>
      </p:sp>
      <p:sp>
        <p:nvSpPr>
          <p:cNvPr id="180" name="Google Shape;180;p3"/>
          <p:cNvSpPr/>
          <p:nvPr/>
        </p:nvSpPr>
        <p:spPr>
          <a:xfrm>
            <a:off x="1645920" y="1444752"/>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3"/>
          <p:cNvSpPr txBox="1"/>
          <p:nvPr/>
        </p:nvSpPr>
        <p:spPr>
          <a:xfrm>
            <a:off x="1645920" y="1517904"/>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6E6E73"/>
                </a:solidFill>
                <a:latin typeface="Mulish"/>
                <a:ea typeface="Mulish"/>
                <a:cs typeface="Mulish"/>
                <a:sym typeface="Mulish"/>
              </a:rPr>
              <a:t>System identity · End-to-end user workflow · Competitive advantages</a:t>
            </a:r>
            <a:endParaRPr/>
          </a:p>
        </p:txBody>
      </p:sp>
      <p:sp>
        <p:nvSpPr>
          <p:cNvPr id="182" name="Google Shape;182;p3"/>
          <p:cNvSpPr/>
          <p:nvPr/>
        </p:nvSpPr>
        <p:spPr>
          <a:xfrm>
            <a:off x="1645920" y="2011680"/>
            <a:ext cx="9418320" cy="118872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3"/>
          <p:cNvSpPr/>
          <p:nvPr/>
        </p:nvSpPr>
        <p:spPr>
          <a:xfrm>
            <a:off x="1965960" y="1883664"/>
            <a:ext cx="1600200" cy="256032"/>
          </a:xfrm>
          <a:prstGeom prst="roundRect">
            <a:avLst>
              <a:gd name="adj" fmla="val 50000"/>
            </a:avLst>
          </a:prstGeom>
          <a:solidFill>
            <a:srgbClr val="FD1485"/>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SOLUTION CORE</a:t>
            </a:r>
            <a:endParaRPr/>
          </a:p>
        </p:txBody>
      </p:sp>
      <p:sp>
        <p:nvSpPr>
          <p:cNvPr id="184" name="Google Shape;184;p3"/>
          <p:cNvSpPr txBox="1"/>
          <p:nvPr/>
        </p:nvSpPr>
        <p:spPr>
          <a:xfrm>
            <a:off x="1920240" y="2194560"/>
            <a:ext cx="8869800" cy="684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53334"/>
                </a:solidFill>
                <a:latin typeface="Fjalla One"/>
                <a:ea typeface="Fjalla One"/>
                <a:cs typeface="Fjalla One"/>
                <a:sym typeface="Fjalla One"/>
              </a:rPr>
              <a:t>Survey Sync</a:t>
            </a:r>
            <a:endParaRPr/>
          </a:p>
          <a:p>
            <a:pPr marL="0" marR="0" lvl="0" indent="0" algn="l" rtl="0">
              <a:spcBef>
                <a:spcPts val="300"/>
              </a:spcBef>
              <a:spcAft>
                <a:spcPts val="0"/>
              </a:spcAft>
              <a:buNone/>
            </a:pPr>
            <a:r>
              <a:rPr lang="en-US" sz="1000">
                <a:solidFill>
                  <a:srgbClr val="3C3C41"/>
                </a:solidFill>
                <a:latin typeface="Mulish"/>
                <a:ea typeface="Mulish"/>
                <a:cs typeface="Mulish"/>
                <a:sym typeface="Mulish"/>
              </a:rPr>
              <a:t>A centralized web platform that manages machines, requests, technicians, resources, documents, approvals and completion records in one connected system. It validates and routes each request, assigns qualified people, and handles exceptions automatically. </a:t>
            </a:r>
            <a:endParaRPr/>
          </a:p>
        </p:txBody>
      </p:sp>
      <p:sp>
        <p:nvSpPr>
          <p:cNvPr id="185" name="Google Shape;185;p3"/>
          <p:cNvSpPr/>
          <p:nvPr/>
        </p:nvSpPr>
        <p:spPr>
          <a:xfrm>
            <a:off x="1645920" y="3383280"/>
            <a:ext cx="9418320" cy="128016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3"/>
          <p:cNvSpPr/>
          <p:nvPr/>
        </p:nvSpPr>
        <p:spPr>
          <a:xfrm>
            <a:off x="1965960" y="3255264"/>
            <a:ext cx="1600200" cy="256032"/>
          </a:xfrm>
          <a:prstGeom prst="roundRect">
            <a:avLst>
              <a:gd name="adj" fmla="val 50000"/>
            </a:avLst>
          </a:prstGeom>
          <a:solidFill>
            <a:srgbClr val="079ED2"/>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USER FLOW</a:t>
            </a:r>
            <a:endParaRPr/>
          </a:p>
        </p:txBody>
      </p:sp>
      <p:sp>
        <p:nvSpPr>
          <p:cNvPr id="187" name="Google Shape;187;p3"/>
          <p:cNvSpPr/>
          <p:nvPr/>
        </p:nvSpPr>
        <p:spPr>
          <a:xfrm>
            <a:off x="1920240" y="3822192"/>
            <a:ext cx="2560200" cy="640200"/>
          </a:xfrm>
          <a:prstGeom prst="roundRect">
            <a:avLst>
              <a:gd name="adj" fmla="val 8000"/>
            </a:avLst>
          </a:prstGeom>
          <a:solidFill>
            <a:srgbClr val="FFFFFF"/>
          </a:solid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5700" tIns="45700" rIns="45700" bIns="45700" anchor="ctr" anchorCtr="0">
            <a:noAutofit/>
          </a:bodyPr>
          <a:lstStyle/>
          <a:p>
            <a:pPr marL="0" marR="0" lvl="0" indent="0" algn="ctr" rtl="0">
              <a:spcBef>
                <a:spcPts val="0"/>
              </a:spcBef>
              <a:spcAft>
                <a:spcPts val="0"/>
              </a:spcAft>
              <a:buNone/>
            </a:pPr>
            <a:r>
              <a:rPr lang="en-US" sz="1000" b="1">
                <a:solidFill>
                  <a:srgbClr val="353334"/>
                </a:solidFill>
                <a:latin typeface="Fjalla One"/>
                <a:ea typeface="Fjalla One"/>
                <a:cs typeface="Fjalla One"/>
                <a:sym typeface="Fjalla One"/>
              </a:rPr>
              <a:t>1. USER INPUT</a:t>
            </a:r>
            <a:endParaRPr/>
          </a:p>
          <a:p>
            <a:pPr marL="0" marR="0" lvl="0" indent="0" algn="ctr" rtl="0">
              <a:spcBef>
                <a:spcPts val="0"/>
              </a:spcBef>
              <a:spcAft>
                <a:spcPts val="0"/>
              </a:spcAft>
              <a:buNone/>
            </a:pPr>
            <a:r>
              <a:rPr lang="en-US" sz="850">
                <a:solidFill>
                  <a:srgbClr val="3C3C41"/>
                </a:solidFill>
                <a:latin typeface="Mulish"/>
                <a:ea typeface="Mulish"/>
                <a:cs typeface="Mulish"/>
                <a:sym typeface="Mulish"/>
              </a:rPr>
              <a:t>A service request for a machine, with priority and site. </a:t>
            </a:r>
            <a:endParaRPr/>
          </a:p>
        </p:txBody>
      </p:sp>
      <p:sp>
        <p:nvSpPr>
          <p:cNvPr id="188" name="Google Shape;188;p3"/>
          <p:cNvSpPr txBox="1"/>
          <p:nvPr/>
        </p:nvSpPr>
        <p:spPr>
          <a:xfrm>
            <a:off x="4590288" y="3931920"/>
            <a:ext cx="329184" cy="3657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a:solidFill>
                  <a:srgbClr val="353334"/>
                </a:solidFill>
                <a:latin typeface="Mulish"/>
                <a:ea typeface="Mulish"/>
                <a:cs typeface="Mulish"/>
                <a:sym typeface="Mulish"/>
              </a:rPr>
              <a:t>➔</a:t>
            </a:r>
            <a:endParaRPr/>
          </a:p>
        </p:txBody>
      </p:sp>
      <p:sp>
        <p:nvSpPr>
          <p:cNvPr id="189" name="Google Shape;189;p3"/>
          <p:cNvSpPr/>
          <p:nvPr/>
        </p:nvSpPr>
        <p:spPr>
          <a:xfrm>
            <a:off x="5029200" y="3822192"/>
            <a:ext cx="2560320" cy="640080"/>
          </a:xfrm>
          <a:prstGeom prst="roundRect">
            <a:avLst>
              <a:gd name="adj" fmla="val 8000"/>
            </a:avLst>
          </a:prstGeom>
          <a:solidFill>
            <a:srgbClr val="FFFFFF"/>
          </a:solidFill>
          <a:ln w="19050" cap="flat" cmpd="sng">
            <a:solidFill>
              <a:srgbClr val="FFB903"/>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5700" tIns="45700" rIns="45700" bIns="45700" anchor="ctr" anchorCtr="0">
            <a:noAutofit/>
          </a:bodyPr>
          <a:lstStyle/>
          <a:p>
            <a:pPr marL="0" marR="0" lvl="0" indent="0" algn="ctr" rtl="0">
              <a:spcBef>
                <a:spcPts val="0"/>
              </a:spcBef>
              <a:spcAft>
                <a:spcPts val="0"/>
              </a:spcAft>
              <a:buNone/>
            </a:pPr>
            <a:r>
              <a:rPr lang="en-US" sz="1000" b="1">
                <a:solidFill>
                  <a:srgbClr val="353334"/>
                </a:solidFill>
                <a:latin typeface="Fjalla One"/>
                <a:ea typeface="Fjalla One"/>
                <a:cs typeface="Fjalla One"/>
                <a:sym typeface="Fjalla One"/>
              </a:rPr>
              <a:t>2. PROCESSING</a:t>
            </a:r>
            <a:endParaRPr/>
          </a:p>
          <a:p>
            <a:pPr marL="0" marR="0" lvl="0" indent="0" algn="ctr" rtl="0">
              <a:spcBef>
                <a:spcPts val="0"/>
              </a:spcBef>
              <a:spcAft>
                <a:spcPts val="0"/>
              </a:spcAft>
              <a:buNone/>
            </a:pPr>
            <a:r>
              <a:rPr lang="en-US" sz="850">
                <a:solidFill>
                  <a:srgbClr val="3C3C41"/>
                </a:solidFill>
                <a:latin typeface="Mulish"/>
                <a:ea typeface="Mulish"/>
                <a:cs typeface="Mulish"/>
                <a:sym typeface="Mulish"/>
              </a:rPr>
              <a:t>Validation (eligibility, skills, parts), approval, then auto-assignment and parts reservation. </a:t>
            </a:r>
            <a:endParaRPr/>
          </a:p>
        </p:txBody>
      </p:sp>
      <p:sp>
        <p:nvSpPr>
          <p:cNvPr id="190" name="Google Shape;190;p3"/>
          <p:cNvSpPr txBox="1"/>
          <p:nvPr/>
        </p:nvSpPr>
        <p:spPr>
          <a:xfrm>
            <a:off x="7699248" y="3931920"/>
            <a:ext cx="329184" cy="3657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a:solidFill>
                  <a:srgbClr val="353334"/>
                </a:solidFill>
                <a:latin typeface="Mulish"/>
                <a:ea typeface="Mulish"/>
                <a:cs typeface="Mulish"/>
                <a:sym typeface="Mulish"/>
              </a:rPr>
              <a:t>➔</a:t>
            </a:r>
            <a:endParaRPr/>
          </a:p>
        </p:txBody>
      </p:sp>
      <p:sp>
        <p:nvSpPr>
          <p:cNvPr id="191" name="Google Shape;191;p3"/>
          <p:cNvSpPr/>
          <p:nvPr/>
        </p:nvSpPr>
        <p:spPr>
          <a:xfrm>
            <a:off x="8138160" y="3822192"/>
            <a:ext cx="2560320" cy="640080"/>
          </a:xfrm>
          <a:prstGeom prst="roundRect">
            <a:avLst>
              <a:gd name="adj" fmla="val 8000"/>
            </a:avLst>
          </a:prstGeom>
          <a:solidFill>
            <a:srgbClr val="FFFFFF"/>
          </a:solidFill>
          <a:ln w="19050"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5700" tIns="45700" rIns="45700" bIns="45700" anchor="ctr" anchorCtr="0">
            <a:noAutofit/>
          </a:bodyPr>
          <a:lstStyle/>
          <a:p>
            <a:pPr marL="0" marR="0" lvl="0" indent="0" algn="ctr" rtl="0">
              <a:spcBef>
                <a:spcPts val="0"/>
              </a:spcBef>
              <a:spcAft>
                <a:spcPts val="0"/>
              </a:spcAft>
              <a:buNone/>
            </a:pPr>
            <a:r>
              <a:rPr lang="en-US" sz="1000" b="1">
                <a:solidFill>
                  <a:srgbClr val="353334"/>
                </a:solidFill>
                <a:latin typeface="Fjalla One"/>
                <a:ea typeface="Fjalla One"/>
                <a:cs typeface="Fjalla One"/>
                <a:sym typeface="Fjalla One"/>
              </a:rPr>
              <a:t>3. OUTPUT</a:t>
            </a:r>
            <a:endParaRPr/>
          </a:p>
          <a:p>
            <a:pPr marL="0" marR="0" lvl="0" indent="0" algn="ctr" rtl="0">
              <a:spcBef>
                <a:spcPts val="0"/>
              </a:spcBef>
              <a:spcAft>
                <a:spcPts val="0"/>
              </a:spcAft>
              <a:buNone/>
            </a:pPr>
            <a:r>
              <a:rPr lang="en-US" sz="850">
                <a:solidFill>
                  <a:srgbClr val="3C3C41"/>
                </a:solidFill>
                <a:latin typeface="Mulish"/>
                <a:ea typeface="Mulish"/>
                <a:cs typeface="Mulish"/>
                <a:sym typeface="Mulish"/>
              </a:rPr>
              <a:t>An assigned technician, live status updates, alerts, and a verified completion record. </a:t>
            </a:r>
            <a:endParaRPr/>
          </a:p>
        </p:txBody>
      </p:sp>
      <p:sp>
        <p:nvSpPr>
          <p:cNvPr id="192" name="Google Shape;192;p3"/>
          <p:cNvSpPr/>
          <p:nvPr/>
        </p:nvSpPr>
        <p:spPr>
          <a:xfrm>
            <a:off x="1645920" y="4846320"/>
            <a:ext cx="4572000" cy="16916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3"/>
          <p:cNvSpPr/>
          <p:nvPr/>
        </p:nvSpPr>
        <p:spPr>
          <a:xfrm>
            <a:off x="1965960" y="4718304"/>
            <a:ext cx="1600200" cy="256032"/>
          </a:xfrm>
          <a:prstGeom prst="roundRect">
            <a:avLst>
              <a:gd name="adj" fmla="val 50000"/>
            </a:avLst>
          </a:prstGeom>
          <a:solidFill>
            <a:srgbClr val="FFB903"/>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353334"/>
                </a:solidFill>
                <a:latin typeface="Mulish"/>
                <a:ea typeface="Mulish"/>
                <a:cs typeface="Mulish"/>
                <a:sym typeface="Mulish"/>
              </a:rPr>
              <a:t>ADVANTAGE</a:t>
            </a:r>
            <a:endParaRPr/>
          </a:p>
        </p:txBody>
      </p:sp>
      <p:sp>
        <p:nvSpPr>
          <p:cNvPr id="194" name="Google Shape;194;p3"/>
          <p:cNvSpPr txBox="1"/>
          <p:nvPr/>
        </p:nvSpPr>
        <p:spPr>
          <a:xfrm>
            <a:off x="1920240" y="5074920"/>
            <a:ext cx="4023300" cy="10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rgbClr val="353334"/>
                </a:solidFill>
                <a:latin typeface="Fjalla One"/>
                <a:ea typeface="Fjalla One"/>
                <a:cs typeface="Fjalla One"/>
                <a:sym typeface="Fjalla One"/>
              </a:rPr>
              <a:t>WHY IT IS BETTER</a:t>
            </a:r>
            <a:endParaRPr sz="1600"/>
          </a:p>
          <a:p>
            <a:pPr marL="0" marR="0" lvl="0" indent="0" algn="l" rtl="0">
              <a:spcBef>
                <a:spcPts val="300"/>
              </a:spcBef>
              <a:spcAft>
                <a:spcPts val="0"/>
              </a:spcAft>
              <a:buNone/>
            </a:pPr>
            <a:r>
              <a:rPr lang="en-US" sz="1200">
                <a:solidFill>
                  <a:srgbClr val="3C3C41"/>
                </a:solidFill>
                <a:latin typeface="Mulish"/>
                <a:ea typeface="Mulish"/>
                <a:cs typeface="Mulish"/>
                <a:sym typeface="Mulish"/>
              </a:rPr>
              <a:t>It replaces manual availability checks with automatic matching on skill, availability and location. It shows live status for all pending and active work, and catches conflicts before they affect the schedule. </a:t>
            </a:r>
            <a:endParaRPr sz="1600"/>
          </a:p>
        </p:txBody>
      </p:sp>
      <p:sp>
        <p:nvSpPr>
          <p:cNvPr id="195" name="Google Shape;195;p3"/>
          <p:cNvSpPr/>
          <p:nvPr/>
        </p:nvSpPr>
        <p:spPr>
          <a:xfrm>
            <a:off x="6492240" y="4846320"/>
            <a:ext cx="4572000" cy="16916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3"/>
          <p:cNvSpPr/>
          <p:nvPr/>
        </p:nvSpPr>
        <p:spPr>
          <a:xfrm>
            <a:off x="6812280" y="4718304"/>
            <a:ext cx="1600200" cy="256032"/>
          </a:xfrm>
          <a:prstGeom prst="roundRect">
            <a:avLst>
              <a:gd name="adj" fmla="val 50000"/>
            </a:avLst>
          </a:prstGeom>
          <a:solidFill>
            <a:srgbClr val="FD1485"/>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INNOVATION</a:t>
            </a:r>
            <a:endParaRPr/>
          </a:p>
        </p:txBody>
      </p:sp>
      <p:sp>
        <p:nvSpPr>
          <p:cNvPr id="197" name="Google Shape;197;p3"/>
          <p:cNvSpPr txBox="1"/>
          <p:nvPr/>
        </p:nvSpPr>
        <p:spPr>
          <a:xfrm>
            <a:off x="6766560" y="5074920"/>
            <a:ext cx="4023300" cy="12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rgbClr val="353334"/>
                </a:solidFill>
                <a:latin typeface="Fjalla One"/>
                <a:ea typeface="Fjalla One"/>
                <a:cs typeface="Fjalla One"/>
                <a:sym typeface="Fjalla One"/>
              </a:rPr>
              <a:t>WHAT IS DIFFERENT</a:t>
            </a:r>
            <a:endParaRPr sz="1600"/>
          </a:p>
          <a:p>
            <a:pPr marL="0" marR="0" lvl="0" indent="0" algn="l" rtl="0">
              <a:spcBef>
                <a:spcPts val="300"/>
              </a:spcBef>
              <a:spcAft>
                <a:spcPts val="0"/>
              </a:spcAft>
              <a:buNone/>
            </a:pPr>
            <a:r>
              <a:rPr lang="en-US" sz="1200">
                <a:solidFill>
                  <a:srgbClr val="3C3C41"/>
                </a:solidFill>
                <a:latin typeface="Mulish"/>
                <a:ea typeface="Mulish"/>
                <a:cs typeface="Mulish"/>
                <a:sym typeface="Mulish"/>
              </a:rPr>
              <a:t>The request lifecycle is a state machine with a built-in exception path (dropout, missing part, SLA breach, instant reassignment). Every state change emits an event, so mobile, AI, IoT, maps and blockchain can plug in without changing the core. </a:t>
            </a:r>
            <a:endParaRPr sz="1600"/>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4"/>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4"/>
          <p:cNvSpPr/>
          <p:nvPr/>
        </p:nvSpPr>
        <p:spPr>
          <a:xfrm>
            <a:off x="-182880" y="1051560"/>
            <a:ext cx="105156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4"/>
          <p:cNvSpPr/>
          <p:nvPr/>
        </p:nvSpPr>
        <p:spPr>
          <a:xfrm>
            <a:off x="-182880" y="1453896"/>
            <a:ext cx="146304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4"/>
          <p:cNvSpPr/>
          <p:nvPr/>
        </p:nvSpPr>
        <p:spPr>
          <a:xfrm>
            <a:off x="-182880" y="1856232"/>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4"/>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4"/>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4"/>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 name="Google Shape;209;p4"/>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4"/>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4"/>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 name="Google Shape;212;p4"/>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4"/>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4"/>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4"/>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4"/>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4"/>
          <p:cNvSpPr/>
          <p:nvPr/>
        </p:nvSpPr>
        <p:spPr>
          <a:xfrm>
            <a:off x="8412480" y="640080"/>
            <a:ext cx="100584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4"/>
          <p:cNvSpPr/>
          <p:nvPr/>
        </p:nvSpPr>
        <p:spPr>
          <a:xfrm>
            <a:off x="837133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4"/>
          <p:cNvSpPr/>
          <p:nvPr/>
        </p:nvSpPr>
        <p:spPr>
          <a:xfrm>
            <a:off x="937717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4"/>
          <p:cNvSpPr txBox="1"/>
          <p:nvPr/>
        </p:nvSpPr>
        <p:spPr>
          <a:xfrm>
            <a:off x="1645920" y="384048"/>
            <a:ext cx="82296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a:solidFill>
                  <a:srgbClr val="353334"/>
                </a:solidFill>
                <a:latin typeface="Mulish"/>
                <a:ea typeface="Mulish"/>
                <a:cs typeface="Mulish"/>
                <a:sym typeface="Mulish"/>
              </a:rPr>
              <a:t>DATAQUEST 3.0  ·  ROUND 1</a:t>
            </a:r>
            <a:endParaRPr/>
          </a:p>
        </p:txBody>
      </p:sp>
      <p:sp>
        <p:nvSpPr>
          <p:cNvPr id="221" name="Google Shape;221;p4"/>
          <p:cNvSpPr txBox="1"/>
          <p:nvPr/>
        </p:nvSpPr>
        <p:spPr>
          <a:xfrm>
            <a:off x="1645920" y="621792"/>
            <a:ext cx="9144000" cy="77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D1485"/>
                </a:solidFill>
                <a:latin typeface="Fjalla One"/>
                <a:ea typeface="Fjalla One"/>
                <a:cs typeface="Fjalla One"/>
                <a:sym typeface="Fjalla One"/>
              </a:rPr>
              <a:t>04  </a:t>
            </a:r>
            <a:r>
              <a:rPr lang="en-US" sz="3200" b="1">
                <a:solidFill>
                  <a:srgbClr val="353334"/>
                </a:solidFill>
                <a:latin typeface="Fjalla One"/>
                <a:ea typeface="Fjalla One"/>
                <a:cs typeface="Fjalla One"/>
                <a:sym typeface="Fjalla One"/>
              </a:rPr>
              <a:t>System Architecture</a:t>
            </a:r>
            <a:endParaRPr/>
          </a:p>
        </p:txBody>
      </p:sp>
      <p:sp>
        <p:nvSpPr>
          <p:cNvPr id="222" name="Google Shape;222;p4"/>
          <p:cNvSpPr/>
          <p:nvPr/>
        </p:nvSpPr>
        <p:spPr>
          <a:xfrm>
            <a:off x="1645920" y="1444752"/>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4"/>
          <p:cNvSpPr txBox="1"/>
          <p:nvPr/>
        </p:nvSpPr>
        <p:spPr>
          <a:xfrm>
            <a:off x="1645920" y="1517904"/>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6E6E73"/>
                </a:solidFill>
                <a:latin typeface="Mulish"/>
                <a:ea typeface="Mulish"/>
                <a:cs typeface="Mulish"/>
                <a:sym typeface="Mulish"/>
              </a:rPr>
              <a:t>System diagram is the primary visual · Engineering decisions · Validation</a:t>
            </a:r>
            <a:endParaRPr/>
          </a:p>
        </p:txBody>
      </p:sp>
      <p:sp>
        <p:nvSpPr>
          <p:cNvPr id="224" name="Google Shape;224;p4"/>
          <p:cNvSpPr/>
          <p:nvPr/>
        </p:nvSpPr>
        <p:spPr>
          <a:xfrm>
            <a:off x="1645920" y="2011680"/>
            <a:ext cx="9418320" cy="265176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4"/>
          <p:cNvSpPr/>
          <p:nvPr/>
        </p:nvSpPr>
        <p:spPr>
          <a:xfrm>
            <a:off x="1965960" y="1883664"/>
            <a:ext cx="1600200" cy="256032"/>
          </a:xfrm>
          <a:prstGeom prst="roundRect">
            <a:avLst>
              <a:gd name="adj" fmla="val 50000"/>
            </a:avLst>
          </a:prstGeom>
          <a:solidFill>
            <a:srgbClr val="353334"/>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SYSTEM DIAGRAM</a:t>
            </a:r>
            <a:endParaRPr/>
          </a:p>
        </p:txBody>
      </p:sp>
      <p:sp>
        <p:nvSpPr>
          <p:cNvPr id="226" name="Google Shape;226;p4"/>
          <p:cNvSpPr/>
          <p:nvPr/>
        </p:nvSpPr>
        <p:spPr>
          <a:xfrm>
            <a:off x="1920240" y="2331720"/>
            <a:ext cx="8869680" cy="2148840"/>
          </a:xfrm>
          <a:prstGeom prst="roundRect">
            <a:avLst>
              <a:gd name="adj" fmla="val 3500"/>
            </a:avLst>
          </a:prstGeom>
          <a:solidFill>
            <a:srgbClr val="FFFFF1"/>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4"/>
          <p:cNvSpPr/>
          <p:nvPr/>
        </p:nvSpPr>
        <p:spPr>
          <a:xfrm>
            <a:off x="1645920" y="4892040"/>
            <a:ext cx="2971800" cy="164592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4"/>
          <p:cNvSpPr/>
          <p:nvPr/>
        </p:nvSpPr>
        <p:spPr>
          <a:xfrm>
            <a:off x="1965960" y="4764024"/>
            <a:ext cx="1600200" cy="256032"/>
          </a:xfrm>
          <a:prstGeom prst="roundRect">
            <a:avLst>
              <a:gd name="adj" fmla="val 50000"/>
            </a:avLst>
          </a:prstGeom>
          <a:solidFill>
            <a:srgbClr val="FFB903"/>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353334"/>
                </a:solidFill>
                <a:latin typeface="Mulish"/>
                <a:ea typeface="Mulish"/>
                <a:cs typeface="Mulish"/>
                <a:sym typeface="Mulish"/>
              </a:rPr>
              <a:t>TECH 01</a:t>
            </a:r>
            <a:endParaRPr/>
          </a:p>
        </p:txBody>
      </p:sp>
      <p:sp>
        <p:nvSpPr>
          <p:cNvPr id="229" name="Google Shape;229;p4"/>
          <p:cNvSpPr txBox="1"/>
          <p:nvPr/>
        </p:nvSpPr>
        <p:spPr>
          <a:xfrm>
            <a:off x="1828800" y="5093208"/>
            <a:ext cx="2606100" cy="117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rgbClr val="353334"/>
                </a:solidFill>
                <a:latin typeface="Fjalla One"/>
                <a:ea typeface="Fjalla One"/>
                <a:cs typeface="Fjalla One"/>
                <a:sym typeface="Fjalla One"/>
              </a:rPr>
              <a:t>KEY TECHNICAL DECISION</a:t>
            </a:r>
            <a:endParaRPr/>
          </a:p>
          <a:p>
            <a:pPr marL="0" marR="0" lvl="0" indent="0" algn="l" rtl="0">
              <a:spcBef>
                <a:spcPts val="300"/>
              </a:spcBef>
              <a:spcAft>
                <a:spcPts val="0"/>
              </a:spcAft>
              <a:buNone/>
            </a:pPr>
            <a:r>
              <a:rPr lang="en-US" sz="950">
                <a:solidFill>
                  <a:srgbClr val="3C3C41"/>
                </a:solidFill>
                <a:latin typeface="Mulish"/>
                <a:ea typeface="Mulish"/>
                <a:cs typeface="Mulish"/>
                <a:sym typeface="Mulish"/>
              </a:rPr>
              <a:t>A layered design with events on every state change. It lets us add mobile apps, AI assignment and IoT alerts later without rewriting the core. PostgreSQL gives reliable transactions for reservations and audit data. </a:t>
            </a:r>
            <a:endParaRPr/>
          </a:p>
        </p:txBody>
      </p:sp>
      <p:sp>
        <p:nvSpPr>
          <p:cNvPr id="230" name="Google Shape;230;p4"/>
          <p:cNvSpPr/>
          <p:nvPr/>
        </p:nvSpPr>
        <p:spPr>
          <a:xfrm>
            <a:off x="4864608" y="4892040"/>
            <a:ext cx="2971800" cy="164592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4"/>
          <p:cNvSpPr/>
          <p:nvPr/>
        </p:nvSpPr>
        <p:spPr>
          <a:xfrm>
            <a:off x="5184648" y="4764024"/>
            <a:ext cx="1600200" cy="256032"/>
          </a:xfrm>
          <a:prstGeom prst="roundRect">
            <a:avLst>
              <a:gd name="adj" fmla="val 50000"/>
            </a:avLst>
          </a:prstGeom>
          <a:solidFill>
            <a:srgbClr val="FD1485"/>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TECH 02</a:t>
            </a:r>
            <a:endParaRPr/>
          </a:p>
        </p:txBody>
      </p:sp>
      <p:sp>
        <p:nvSpPr>
          <p:cNvPr id="232" name="Google Shape;232;p4"/>
          <p:cNvSpPr txBox="1"/>
          <p:nvPr/>
        </p:nvSpPr>
        <p:spPr>
          <a:xfrm>
            <a:off x="5047488" y="5093208"/>
            <a:ext cx="2606100" cy="1031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rgbClr val="353334"/>
                </a:solidFill>
                <a:latin typeface="Fjalla One"/>
                <a:ea typeface="Fjalla One"/>
                <a:cs typeface="Fjalla One"/>
                <a:sym typeface="Fjalla One"/>
              </a:rPr>
              <a:t>HARDEST PART</a:t>
            </a:r>
            <a:endParaRPr/>
          </a:p>
          <a:p>
            <a:pPr marL="0" marR="0" lvl="0" indent="0" algn="l" rtl="0">
              <a:spcBef>
                <a:spcPts val="300"/>
              </a:spcBef>
              <a:spcAft>
                <a:spcPts val="0"/>
              </a:spcAft>
              <a:buNone/>
            </a:pPr>
            <a:r>
              <a:rPr lang="en-US" sz="950">
                <a:solidFill>
                  <a:srgbClr val="3C3C41"/>
                </a:solidFill>
                <a:latin typeface="Mulish"/>
                <a:ea typeface="Mulish"/>
                <a:cs typeface="Mulish"/>
                <a:sym typeface="Mulish"/>
              </a:rPr>
              <a:t>assigning technicians and parts without double-booking, while keeping request states consistent when exceptions occur. Handled with transactional reservations and strict state-machine rules. </a:t>
            </a:r>
            <a:endParaRPr/>
          </a:p>
        </p:txBody>
      </p:sp>
      <p:sp>
        <p:nvSpPr>
          <p:cNvPr id="233" name="Google Shape;233;p4"/>
          <p:cNvSpPr/>
          <p:nvPr/>
        </p:nvSpPr>
        <p:spPr>
          <a:xfrm>
            <a:off x="8083296" y="4892040"/>
            <a:ext cx="2971800" cy="164592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 name="Google Shape;234;p4"/>
          <p:cNvSpPr/>
          <p:nvPr/>
        </p:nvSpPr>
        <p:spPr>
          <a:xfrm>
            <a:off x="8403336" y="4764024"/>
            <a:ext cx="1600200" cy="256032"/>
          </a:xfrm>
          <a:prstGeom prst="roundRect">
            <a:avLst>
              <a:gd name="adj" fmla="val 50000"/>
            </a:avLst>
          </a:prstGeom>
          <a:solidFill>
            <a:srgbClr val="079ED2"/>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TECH 03</a:t>
            </a:r>
            <a:endParaRPr/>
          </a:p>
        </p:txBody>
      </p:sp>
      <p:sp>
        <p:nvSpPr>
          <p:cNvPr id="235" name="Google Shape;235;p4"/>
          <p:cNvSpPr txBox="1"/>
          <p:nvPr/>
        </p:nvSpPr>
        <p:spPr>
          <a:xfrm>
            <a:off x="8266176" y="5093208"/>
            <a:ext cx="2606100" cy="1031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rgbClr val="353334"/>
                </a:solidFill>
                <a:latin typeface="Fjalla One"/>
                <a:ea typeface="Fjalla One"/>
                <a:cs typeface="Fjalla One"/>
                <a:sym typeface="Fjalla One"/>
              </a:rPr>
              <a:t>VALIDATION</a:t>
            </a:r>
            <a:endParaRPr/>
          </a:p>
          <a:p>
            <a:pPr marL="0" marR="0" lvl="0" indent="0" algn="l" rtl="0">
              <a:spcBef>
                <a:spcPts val="300"/>
              </a:spcBef>
              <a:spcAft>
                <a:spcPts val="0"/>
              </a:spcAft>
              <a:buNone/>
            </a:pPr>
            <a:r>
              <a:rPr lang="en-US" sz="950">
                <a:solidFill>
                  <a:srgbClr val="3C3C41"/>
                </a:solidFill>
                <a:latin typeface="Mulish"/>
                <a:ea typeface="Mulish"/>
                <a:cs typeface="Mulish"/>
                <a:sym typeface="Mulish"/>
              </a:rPr>
              <a:t>End-to-end tests of the M-104 scenario (including technician dropout), conflict tests for double-booked technicians and parts, and a seeded dataset for repeatable demos. </a:t>
            </a:r>
            <a:endParaRPr/>
          </a:p>
        </p:txBody>
      </p:sp>
      <p:sp>
        <p:nvSpPr>
          <p:cNvPr id="13" name="TextBox 12">
            <a:extLst>
              <a:ext uri="{FF2B5EF4-FFF2-40B4-BE49-F238E27FC236}">
                <a16:creationId xmlns:a16="http://schemas.microsoft.com/office/drawing/2014/main" id="{F759A707-DB82-C4B3-92A7-30F7C5A48069}"/>
              </a:ext>
            </a:extLst>
          </p:cNvPr>
          <p:cNvSpPr txBox="1"/>
          <p:nvPr/>
        </p:nvSpPr>
        <p:spPr>
          <a:xfrm>
            <a:off x="3288548" y="2413337"/>
            <a:ext cx="6983212" cy="2031325"/>
          </a:xfrm>
          <a:prstGeom prst="rect">
            <a:avLst/>
          </a:prstGeom>
          <a:noFill/>
        </p:spPr>
        <p:txBody>
          <a:bodyPr wrap="square">
            <a:spAutoFit/>
          </a:bodyPr>
          <a:lstStyle/>
          <a:p>
            <a:r>
              <a:rPr lang="en-IN" b="1" dirty="0">
                <a:solidFill>
                  <a:srgbClr val="FF0000"/>
                </a:solidFill>
              </a:rPr>
              <a:t>[ CLIENT ]</a:t>
            </a:r>
            <a:r>
              <a:rPr lang="en-IN" dirty="0"/>
              <a:t>  ──────►  </a:t>
            </a:r>
            <a:r>
              <a:rPr lang="en-IN" b="1" dirty="0">
                <a:solidFill>
                  <a:srgbClr val="FF0000"/>
                </a:solidFill>
              </a:rPr>
              <a:t>[ APP SERVER ]</a:t>
            </a:r>
            <a:r>
              <a:rPr lang="en-IN" dirty="0"/>
              <a:t>  ──────►  	</a:t>
            </a:r>
            <a:r>
              <a:rPr lang="en-IN" b="1" dirty="0">
                <a:solidFill>
                  <a:srgbClr val="FF0000"/>
                </a:solidFill>
              </a:rPr>
              <a:t>[ DATA TIER ]</a:t>
            </a:r>
          </a:p>
          <a:p>
            <a:r>
              <a:rPr lang="en-IN" dirty="0"/>
              <a:t>Web Dashboard         	- Auth / RBAC           		PostgreSQL DB</a:t>
            </a:r>
          </a:p>
          <a:p>
            <a:r>
              <a:rPr lang="en-IN" dirty="0"/>
              <a:t>Field App             	- Core Business Logic  	 - Assets &amp; Inventory</a:t>
            </a:r>
          </a:p>
          <a:p>
            <a:r>
              <a:rPr lang="en-IN" dirty="0"/>
              <a:t>                      	- Event Publisher       		- Schedules &amp; Audits</a:t>
            </a:r>
          </a:p>
          <a:p>
            <a:r>
              <a:rPr lang="en-IN" dirty="0"/>
              <a:t>                             		│</a:t>
            </a:r>
          </a:p>
          <a:p>
            <a:r>
              <a:rPr lang="en-IN" dirty="0"/>
              <a:t>                             	                  ▼</a:t>
            </a:r>
          </a:p>
          <a:p>
            <a:r>
              <a:rPr lang="en-IN" dirty="0"/>
              <a:t>                   	</a:t>
            </a:r>
            <a:r>
              <a:rPr lang="en-IN" dirty="0">
                <a:solidFill>
                  <a:schemeClr val="bg2"/>
                </a:solidFill>
              </a:rPr>
              <a:t> [ INTEGRATION BUS ]</a:t>
            </a:r>
          </a:p>
          <a:p>
            <a:r>
              <a:rPr lang="en-IN" dirty="0"/>
              <a:t>                  		 Kafka / RabbitMQ Broker</a:t>
            </a:r>
          </a:p>
          <a:p>
            <a:r>
              <a:rPr lang="en-IN" dirty="0"/>
              <a:t>                  		 - IoT / AI / Blockchain</a:t>
            </a:r>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5"/>
          <p:cNvSpPr/>
          <p:nvPr/>
        </p:nvSpPr>
        <p:spPr>
          <a:xfrm>
            <a:off x="-182880" y="1051560"/>
            <a:ext cx="105156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5"/>
          <p:cNvSpPr/>
          <p:nvPr/>
        </p:nvSpPr>
        <p:spPr>
          <a:xfrm>
            <a:off x="-182880" y="1453896"/>
            <a:ext cx="146304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5"/>
          <p:cNvSpPr/>
          <p:nvPr/>
        </p:nvSpPr>
        <p:spPr>
          <a:xfrm>
            <a:off x="-182880" y="1856232"/>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5"/>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5"/>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5"/>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5"/>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5"/>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9" name="Google Shape;249;p5"/>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5"/>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5"/>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5"/>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3" name="Google Shape;253;p5"/>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4" name="Google Shape;254;p5"/>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5"/>
          <p:cNvSpPr/>
          <p:nvPr/>
        </p:nvSpPr>
        <p:spPr>
          <a:xfrm>
            <a:off x="8412480" y="640080"/>
            <a:ext cx="100584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5"/>
          <p:cNvSpPr/>
          <p:nvPr/>
        </p:nvSpPr>
        <p:spPr>
          <a:xfrm>
            <a:off x="837133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5"/>
          <p:cNvSpPr/>
          <p:nvPr/>
        </p:nvSpPr>
        <p:spPr>
          <a:xfrm>
            <a:off x="937717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5"/>
          <p:cNvSpPr txBox="1"/>
          <p:nvPr/>
        </p:nvSpPr>
        <p:spPr>
          <a:xfrm>
            <a:off x="1645920" y="384048"/>
            <a:ext cx="82296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a:solidFill>
                  <a:srgbClr val="353334"/>
                </a:solidFill>
                <a:latin typeface="Mulish"/>
                <a:ea typeface="Mulish"/>
                <a:cs typeface="Mulish"/>
                <a:sym typeface="Mulish"/>
              </a:rPr>
              <a:t>DATAQUEST 3.0  ·  ROUND 1</a:t>
            </a:r>
            <a:endParaRPr/>
          </a:p>
        </p:txBody>
      </p:sp>
      <p:sp>
        <p:nvSpPr>
          <p:cNvPr id="259" name="Google Shape;259;p5"/>
          <p:cNvSpPr txBox="1"/>
          <p:nvPr/>
        </p:nvSpPr>
        <p:spPr>
          <a:xfrm>
            <a:off x="1645920" y="621792"/>
            <a:ext cx="9144000" cy="7772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D1485"/>
                </a:solidFill>
                <a:latin typeface="Fjalla One"/>
                <a:ea typeface="Fjalla One"/>
                <a:cs typeface="Fjalla One"/>
                <a:sym typeface="Fjalla One"/>
              </a:rPr>
              <a:t>05  </a:t>
            </a:r>
            <a:r>
              <a:rPr lang="en-US" sz="3200" b="1">
                <a:solidFill>
                  <a:srgbClr val="353334"/>
                </a:solidFill>
                <a:latin typeface="Fjalla One"/>
                <a:ea typeface="Fjalla One"/>
                <a:cs typeface="Fjalla One"/>
                <a:sym typeface="Fjalla One"/>
              </a:rPr>
              <a:t>Feasibility &amp; Scope</a:t>
            </a:r>
            <a:endParaRPr/>
          </a:p>
        </p:txBody>
      </p:sp>
      <p:sp>
        <p:nvSpPr>
          <p:cNvPr id="260" name="Google Shape;260;p5"/>
          <p:cNvSpPr/>
          <p:nvPr/>
        </p:nvSpPr>
        <p:spPr>
          <a:xfrm>
            <a:off x="1645920" y="1444752"/>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5"/>
          <p:cNvSpPr txBox="1"/>
          <p:nvPr/>
        </p:nvSpPr>
        <p:spPr>
          <a:xfrm>
            <a:off x="1645920" y="1517904"/>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6E6E73"/>
                </a:solidFill>
                <a:latin typeface="Mulish"/>
                <a:ea typeface="Mulish"/>
                <a:cs typeface="Mulish"/>
                <a:sym typeface="Mulish"/>
              </a:rPr>
              <a:t>Concrete boundaries · Operational run rate · Risk mitigation · Post-hackathon plans</a:t>
            </a:r>
            <a:endParaRPr/>
          </a:p>
        </p:txBody>
      </p:sp>
      <p:sp>
        <p:nvSpPr>
          <p:cNvPr id="262" name="Google Shape;262;p5"/>
          <p:cNvSpPr/>
          <p:nvPr/>
        </p:nvSpPr>
        <p:spPr>
          <a:xfrm>
            <a:off x="1645920" y="205740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5"/>
          <p:cNvSpPr/>
          <p:nvPr/>
        </p:nvSpPr>
        <p:spPr>
          <a:xfrm>
            <a:off x="1965960" y="1929384"/>
            <a:ext cx="1600200" cy="256032"/>
          </a:xfrm>
          <a:prstGeom prst="roundRect">
            <a:avLst>
              <a:gd name="adj" fmla="val 50000"/>
            </a:avLst>
          </a:prstGeom>
          <a:solidFill>
            <a:srgbClr val="079ED2"/>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01 · BOUNDARIES</a:t>
            </a:r>
            <a:endParaRPr/>
          </a:p>
        </p:txBody>
      </p:sp>
      <p:sp>
        <p:nvSpPr>
          <p:cNvPr id="264" name="Google Shape;264;p5"/>
          <p:cNvSpPr txBox="1"/>
          <p:nvPr/>
        </p:nvSpPr>
        <p:spPr>
          <a:xfrm>
            <a:off x="1920240" y="2313432"/>
            <a:ext cx="4023300" cy="1667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53334"/>
                </a:solidFill>
                <a:latin typeface="Fjalla One"/>
                <a:ea typeface="Fjalla One"/>
                <a:cs typeface="Fjalla One"/>
                <a:sym typeface="Fjalla One"/>
              </a:rPr>
              <a:t>1. SCOPE</a:t>
            </a:r>
            <a:endParaRPr sz="1600"/>
          </a:p>
          <a:p>
            <a:pPr marL="0" marR="0" lvl="0" indent="0" algn="l" rtl="0">
              <a:spcBef>
                <a:spcPts val="400"/>
              </a:spcBef>
              <a:spcAft>
                <a:spcPts val="0"/>
              </a:spcAft>
              <a:buNone/>
            </a:pPr>
            <a:r>
              <a:rPr lang="en-US" sz="1200">
                <a:solidFill>
                  <a:srgbClr val="3C3C41"/>
                </a:solidFill>
                <a:latin typeface="Mulish"/>
                <a:ea typeface="Mulish"/>
                <a:cs typeface="Mulish"/>
                <a:sym typeface="Mulish"/>
              </a:rPr>
              <a:t>In: request lifecycle, validation, approval, auto-assignment, parts reservation, role-based access, dashboard, live notifications, exception handling, audit log. </a:t>
            </a:r>
            <a:br>
              <a:rPr lang="en-US" sz="1200">
                <a:solidFill>
                  <a:srgbClr val="3C3C41"/>
                </a:solidFill>
                <a:latin typeface="Mulish"/>
                <a:ea typeface="Mulish"/>
                <a:cs typeface="Mulish"/>
                <a:sym typeface="Mulish"/>
              </a:rPr>
            </a:br>
            <a:br>
              <a:rPr lang="en-US" sz="1200">
                <a:solidFill>
                  <a:srgbClr val="3C3C41"/>
                </a:solidFill>
                <a:latin typeface="Mulish"/>
                <a:ea typeface="Mulish"/>
                <a:cs typeface="Mulish"/>
                <a:sym typeface="Mulish"/>
              </a:rPr>
            </a:br>
            <a:r>
              <a:rPr lang="en-US" sz="1200">
                <a:solidFill>
                  <a:srgbClr val="3C3C41"/>
                </a:solidFill>
                <a:latin typeface="Mulish"/>
                <a:ea typeface="Mulish"/>
                <a:cs typeface="Mulish"/>
                <a:sym typeface="Mulish"/>
              </a:rPr>
              <a:t>Out: real AI model, IoT hardware, blockchain, native mobile app (architecture ready, not built). </a:t>
            </a:r>
            <a:endParaRPr sz="1600"/>
          </a:p>
        </p:txBody>
      </p:sp>
      <p:sp>
        <p:nvSpPr>
          <p:cNvPr id="265" name="Google Shape;265;p5"/>
          <p:cNvSpPr/>
          <p:nvPr/>
        </p:nvSpPr>
        <p:spPr>
          <a:xfrm>
            <a:off x="6492240" y="205740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 name="Google Shape;266;p5"/>
          <p:cNvSpPr/>
          <p:nvPr/>
        </p:nvSpPr>
        <p:spPr>
          <a:xfrm>
            <a:off x="6812280" y="1929384"/>
            <a:ext cx="1600200" cy="256032"/>
          </a:xfrm>
          <a:prstGeom prst="roundRect">
            <a:avLst>
              <a:gd name="adj" fmla="val 50000"/>
            </a:avLst>
          </a:prstGeom>
          <a:solidFill>
            <a:srgbClr val="FFB903"/>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353334"/>
                </a:solidFill>
                <a:latin typeface="Mulish"/>
                <a:ea typeface="Mulish"/>
                <a:cs typeface="Mulish"/>
                <a:sym typeface="Mulish"/>
              </a:rPr>
              <a:t>02 · ECONOMICS</a:t>
            </a:r>
            <a:endParaRPr/>
          </a:p>
        </p:txBody>
      </p:sp>
      <p:sp>
        <p:nvSpPr>
          <p:cNvPr id="267" name="Google Shape;267;p5"/>
          <p:cNvSpPr txBox="1"/>
          <p:nvPr/>
        </p:nvSpPr>
        <p:spPr>
          <a:xfrm>
            <a:off x="6766560" y="2313432"/>
            <a:ext cx="4023300" cy="1113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53334"/>
                </a:solidFill>
                <a:latin typeface="Fjalla One"/>
                <a:ea typeface="Fjalla One"/>
                <a:cs typeface="Fjalla One"/>
                <a:sym typeface="Fjalla One"/>
              </a:rPr>
              <a:t>2. RUNNING COST</a:t>
            </a:r>
            <a:endParaRPr sz="1600"/>
          </a:p>
          <a:p>
            <a:pPr marL="0" marR="0" lvl="0" indent="0" algn="l" rtl="0">
              <a:spcBef>
                <a:spcPts val="400"/>
              </a:spcBef>
              <a:spcAft>
                <a:spcPts val="0"/>
              </a:spcAft>
              <a:buNone/>
            </a:pPr>
            <a:r>
              <a:rPr lang="en-US" sz="1200">
                <a:solidFill>
                  <a:srgbClr val="3C3C41"/>
                </a:solidFill>
                <a:latin typeface="Mulish"/>
                <a:ea typeface="Mulish"/>
                <a:cs typeface="Mulish"/>
                <a:sym typeface="Mulish"/>
              </a:rPr>
              <a:t>Estimated low for a prototype: one small app host, a small managed PostgreSQL instance and basic file storage, roughly a few dollars up to about $30 per month. </a:t>
            </a:r>
            <a:endParaRPr sz="1600"/>
          </a:p>
        </p:txBody>
      </p:sp>
      <p:sp>
        <p:nvSpPr>
          <p:cNvPr id="268" name="Google Shape;268;p5"/>
          <p:cNvSpPr/>
          <p:nvPr/>
        </p:nvSpPr>
        <p:spPr>
          <a:xfrm>
            <a:off x="1645920" y="438912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5"/>
          <p:cNvSpPr/>
          <p:nvPr/>
        </p:nvSpPr>
        <p:spPr>
          <a:xfrm>
            <a:off x="1965960" y="4261104"/>
            <a:ext cx="1600200" cy="256032"/>
          </a:xfrm>
          <a:prstGeom prst="roundRect">
            <a:avLst>
              <a:gd name="adj" fmla="val 50000"/>
            </a:avLst>
          </a:prstGeom>
          <a:solidFill>
            <a:srgbClr val="FD1485"/>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03 · CONTINGENCY</a:t>
            </a:r>
            <a:endParaRPr/>
          </a:p>
        </p:txBody>
      </p:sp>
      <p:sp>
        <p:nvSpPr>
          <p:cNvPr id="270" name="Google Shape;270;p5"/>
          <p:cNvSpPr txBox="1"/>
          <p:nvPr/>
        </p:nvSpPr>
        <p:spPr>
          <a:xfrm>
            <a:off x="1920240" y="4645152"/>
            <a:ext cx="4023300" cy="1113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53334"/>
                </a:solidFill>
                <a:latin typeface="Fjalla One"/>
                <a:ea typeface="Fjalla One"/>
                <a:cs typeface="Fjalla One"/>
                <a:sym typeface="Fjalla One"/>
              </a:rPr>
              <a:t>3. RISKS &amp; FALLBACK</a:t>
            </a:r>
            <a:endParaRPr sz="1600"/>
          </a:p>
          <a:p>
            <a:pPr marL="0" marR="0" lvl="0" indent="0" algn="l" rtl="0">
              <a:spcBef>
                <a:spcPts val="400"/>
              </a:spcBef>
              <a:spcAft>
                <a:spcPts val="0"/>
              </a:spcAft>
              <a:buNone/>
            </a:pPr>
            <a:r>
              <a:rPr lang="en-US" sz="1200">
                <a:solidFill>
                  <a:srgbClr val="3C3C41"/>
                </a:solidFill>
                <a:latin typeface="Mulish"/>
                <a:ea typeface="Mulish"/>
                <a:cs typeface="Mulish"/>
                <a:sym typeface="Mulish"/>
              </a:rPr>
              <a:t>Risk: real-time updates failing. Fallback: polling every few seconds. Risk: assignment logic too slow or wrong with larger data. Fallback: simple rule-based assignment with manual dispatcher override. </a:t>
            </a:r>
            <a:endParaRPr sz="1600"/>
          </a:p>
        </p:txBody>
      </p:sp>
      <p:sp>
        <p:nvSpPr>
          <p:cNvPr id="271" name="Google Shape;271;p5"/>
          <p:cNvSpPr/>
          <p:nvPr/>
        </p:nvSpPr>
        <p:spPr>
          <a:xfrm>
            <a:off x="6492240" y="4389120"/>
            <a:ext cx="4572000" cy="214884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5"/>
          <p:cNvSpPr/>
          <p:nvPr/>
        </p:nvSpPr>
        <p:spPr>
          <a:xfrm>
            <a:off x="6812280" y="4261104"/>
            <a:ext cx="1600200" cy="256032"/>
          </a:xfrm>
          <a:prstGeom prst="roundRect">
            <a:avLst>
              <a:gd name="adj" fmla="val 50000"/>
            </a:avLst>
          </a:prstGeom>
          <a:solidFill>
            <a:srgbClr val="353334"/>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04 · HORIZON</a:t>
            </a:r>
            <a:endParaRPr/>
          </a:p>
        </p:txBody>
      </p:sp>
      <p:sp>
        <p:nvSpPr>
          <p:cNvPr id="273" name="Google Shape;273;p5"/>
          <p:cNvSpPr txBox="1"/>
          <p:nvPr/>
        </p:nvSpPr>
        <p:spPr>
          <a:xfrm>
            <a:off x="6766560" y="4645152"/>
            <a:ext cx="4023300" cy="1298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53334"/>
                </a:solidFill>
                <a:latin typeface="Fjalla One"/>
                <a:ea typeface="Fjalla One"/>
                <a:cs typeface="Fjalla One"/>
                <a:sym typeface="Fjalla One"/>
              </a:rPr>
              <a:t>4. AFTER THE HACKATHON</a:t>
            </a:r>
            <a:endParaRPr sz="1600"/>
          </a:p>
          <a:p>
            <a:pPr marL="0" marR="0" lvl="0" indent="0" algn="l" rtl="0">
              <a:spcBef>
                <a:spcPts val="400"/>
              </a:spcBef>
              <a:spcAft>
                <a:spcPts val="0"/>
              </a:spcAft>
              <a:buNone/>
            </a:pPr>
            <a:r>
              <a:rPr lang="en-US" sz="1200">
                <a:solidFill>
                  <a:srgbClr val="3C3C41"/>
                </a:solidFill>
                <a:latin typeface="Mulish"/>
                <a:ea typeface="Mulish"/>
                <a:cs typeface="Mulish"/>
                <a:sym typeface="Mulish"/>
              </a:rPr>
              <a:t>Mobile app for technicians, AI/ML to predict failures and rank technicians, IoT sensor alerts that auto-create requests, maps and routing, blockchain hashing of audit entries, and cloud deployment with analytics. </a:t>
            </a:r>
            <a:endParaRPr sz="1600"/>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6"/>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950">
              <a:solidFill>
                <a:srgbClr val="3C3C41"/>
              </a:solidFill>
              <a:latin typeface="Mulish"/>
              <a:ea typeface="Mulish"/>
              <a:cs typeface="Mulish"/>
              <a:sym typeface="Mulish"/>
            </a:endParaRPr>
          </a:p>
        </p:txBody>
      </p:sp>
      <p:sp>
        <p:nvSpPr>
          <p:cNvPr id="279" name="Google Shape;279;p6"/>
          <p:cNvSpPr/>
          <p:nvPr/>
        </p:nvSpPr>
        <p:spPr>
          <a:xfrm>
            <a:off x="-182880" y="1051560"/>
            <a:ext cx="105156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6"/>
          <p:cNvSpPr/>
          <p:nvPr/>
        </p:nvSpPr>
        <p:spPr>
          <a:xfrm>
            <a:off x="-182880" y="1453896"/>
            <a:ext cx="146304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p6"/>
          <p:cNvSpPr/>
          <p:nvPr/>
        </p:nvSpPr>
        <p:spPr>
          <a:xfrm>
            <a:off x="-182880" y="1856232"/>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 name="Google Shape;282;p6"/>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3" name="Google Shape;283;p6"/>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6"/>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 name="Google Shape;285;p6"/>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6"/>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6"/>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6"/>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6"/>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0" name="Google Shape;290;p6"/>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6"/>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 name="Google Shape;292;p6"/>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 name="Google Shape;293;p6"/>
          <p:cNvSpPr/>
          <p:nvPr/>
        </p:nvSpPr>
        <p:spPr>
          <a:xfrm>
            <a:off x="8412480" y="640080"/>
            <a:ext cx="100584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 name="Google Shape;294;p6"/>
          <p:cNvSpPr/>
          <p:nvPr/>
        </p:nvSpPr>
        <p:spPr>
          <a:xfrm>
            <a:off x="837133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5" name="Google Shape;295;p6"/>
          <p:cNvSpPr/>
          <p:nvPr/>
        </p:nvSpPr>
        <p:spPr>
          <a:xfrm>
            <a:off x="937717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6"/>
          <p:cNvSpPr txBox="1"/>
          <p:nvPr/>
        </p:nvSpPr>
        <p:spPr>
          <a:xfrm>
            <a:off x="1645920" y="384048"/>
            <a:ext cx="82296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a:solidFill>
                  <a:srgbClr val="353334"/>
                </a:solidFill>
                <a:latin typeface="Mulish"/>
                <a:ea typeface="Mulish"/>
                <a:cs typeface="Mulish"/>
                <a:sym typeface="Mulish"/>
              </a:rPr>
              <a:t>DATAQUEST 3.0  ·  ROUND 1</a:t>
            </a:r>
            <a:endParaRPr/>
          </a:p>
        </p:txBody>
      </p:sp>
      <p:sp>
        <p:nvSpPr>
          <p:cNvPr id="297" name="Google Shape;297;p6"/>
          <p:cNvSpPr txBox="1"/>
          <p:nvPr/>
        </p:nvSpPr>
        <p:spPr>
          <a:xfrm>
            <a:off x="1645920" y="621792"/>
            <a:ext cx="9144000" cy="7772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D1485"/>
                </a:solidFill>
                <a:latin typeface="Fjalla One"/>
                <a:ea typeface="Fjalla One"/>
                <a:cs typeface="Fjalla One"/>
                <a:sym typeface="Fjalla One"/>
              </a:rPr>
              <a:t>06  </a:t>
            </a:r>
            <a:r>
              <a:rPr lang="en-US" sz="3200" b="1">
                <a:solidFill>
                  <a:srgbClr val="353334"/>
                </a:solidFill>
                <a:latin typeface="Fjalla One"/>
                <a:ea typeface="Fjalla One"/>
                <a:cs typeface="Fjalla One"/>
                <a:sym typeface="Fjalla One"/>
              </a:rPr>
              <a:t>Impact &amp; Metrics</a:t>
            </a:r>
            <a:endParaRPr/>
          </a:p>
        </p:txBody>
      </p:sp>
      <p:sp>
        <p:nvSpPr>
          <p:cNvPr id="298" name="Google Shape;298;p6"/>
          <p:cNvSpPr/>
          <p:nvPr/>
        </p:nvSpPr>
        <p:spPr>
          <a:xfrm>
            <a:off x="1645920" y="1444752"/>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6"/>
          <p:cNvSpPr txBox="1"/>
          <p:nvPr/>
        </p:nvSpPr>
        <p:spPr>
          <a:xfrm>
            <a:off x="1645920" y="1517904"/>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6E6E73"/>
                </a:solidFill>
                <a:latin typeface="Mulish"/>
                <a:ea typeface="Mulish"/>
                <a:cs typeface="Mulish"/>
                <a:sym typeface="Mulish"/>
              </a:rPr>
              <a:t>Primary measurable impact · Transparent calculation · Stakeholder advantages</a:t>
            </a:r>
            <a:endParaRPr/>
          </a:p>
        </p:txBody>
      </p:sp>
      <p:sp>
        <p:nvSpPr>
          <p:cNvPr id="300" name="Google Shape;300;p6"/>
          <p:cNvSpPr/>
          <p:nvPr/>
        </p:nvSpPr>
        <p:spPr>
          <a:xfrm>
            <a:off x="1645920" y="2011680"/>
            <a:ext cx="9418320" cy="182880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6"/>
          <p:cNvSpPr/>
          <p:nvPr/>
        </p:nvSpPr>
        <p:spPr>
          <a:xfrm>
            <a:off x="1965960" y="1883664"/>
            <a:ext cx="1600200" cy="256032"/>
          </a:xfrm>
          <a:prstGeom prst="roundRect">
            <a:avLst>
              <a:gd name="adj" fmla="val 50000"/>
            </a:avLst>
          </a:prstGeom>
          <a:solidFill>
            <a:srgbClr val="FD1485"/>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PRIMARY METRIC</a:t>
            </a:r>
            <a:endParaRPr/>
          </a:p>
        </p:txBody>
      </p:sp>
      <p:sp>
        <p:nvSpPr>
          <p:cNvPr id="302" name="Google Shape;302;p6"/>
          <p:cNvSpPr txBox="1"/>
          <p:nvPr/>
        </p:nvSpPr>
        <p:spPr>
          <a:xfrm>
            <a:off x="1920240" y="2194560"/>
            <a:ext cx="4114800" cy="101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600" b="1">
                <a:solidFill>
                  <a:srgbClr val="FD1485"/>
                </a:solidFill>
                <a:latin typeface="Fjalla One"/>
                <a:ea typeface="Fjalla One"/>
                <a:cs typeface="Fjalla One"/>
                <a:sym typeface="Fjalla One"/>
              </a:rPr>
              <a:t>[ 96.8% ]</a:t>
            </a:r>
            <a:endParaRPr/>
          </a:p>
          <a:p>
            <a:pPr marL="0" marR="0" lvl="0" indent="0" algn="l" rtl="0">
              <a:spcBef>
                <a:spcPts val="200"/>
              </a:spcBef>
              <a:spcAft>
                <a:spcPts val="0"/>
              </a:spcAft>
              <a:buNone/>
            </a:pPr>
            <a:r>
              <a:rPr lang="en-US" sz="1200" b="1">
                <a:solidFill>
                  <a:srgbClr val="353334"/>
                </a:solidFill>
                <a:latin typeface="Fjalla One"/>
                <a:ea typeface="Fjalla One"/>
                <a:cs typeface="Fjalla One"/>
                <a:sym typeface="Fjalla One"/>
              </a:rPr>
              <a:t>reduction in time from request approval to technician assignment</a:t>
            </a:r>
            <a:endParaRPr/>
          </a:p>
        </p:txBody>
      </p:sp>
      <p:sp>
        <p:nvSpPr>
          <p:cNvPr id="303" name="Google Shape;303;p6"/>
          <p:cNvSpPr txBox="1"/>
          <p:nvPr/>
        </p:nvSpPr>
        <p:spPr>
          <a:xfrm>
            <a:off x="6217920" y="2286000"/>
            <a:ext cx="4572000" cy="90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rgbClr val="353334"/>
                </a:solidFill>
                <a:latin typeface="Fjalla One"/>
                <a:ea typeface="Fjalla One"/>
                <a:cs typeface="Fjalla One"/>
                <a:sym typeface="Fjalla One"/>
              </a:rPr>
              <a:t>HOW IT WAS MEASURED</a:t>
            </a:r>
            <a:endParaRPr sz="1600"/>
          </a:p>
          <a:p>
            <a:pPr marL="0" marR="0" lvl="0" indent="0" algn="l" rtl="0">
              <a:spcBef>
                <a:spcPts val="300"/>
              </a:spcBef>
              <a:spcAft>
                <a:spcPts val="0"/>
              </a:spcAft>
              <a:buNone/>
            </a:pPr>
            <a:r>
              <a:rPr lang="en-US" sz="1200">
                <a:solidFill>
                  <a:srgbClr val="3C3C41"/>
                </a:solidFill>
                <a:latin typeface="Mulish"/>
                <a:ea typeface="Mulish"/>
                <a:cs typeface="Mulish"/>
                <a:sym typeface="Mulish"/>
              </a:rPr>
              <a:t>Time the same M-104 scenario twice: once with the manual process (spreadsheet plus messaging) and once on the platform. Fill in the percentage from your own timings. </a:t>
            </a:r>
            <a:endParaRPr sz="1600"/>
          </a:p>
        </p:txBody>
      </p:sp>
      <p:sp>
        <p:nvSpPr>
          <p:cNvPr id="304" name="Google Shape;304;p6"/>
          <p:cNvSpPr/>
          <p:nvPr/>
        </p:nvSpPr>
        <p:spPr>
          <a:xfrm>
            <a:off x="1645920" y="4114800"/>
            <a:ext cx="2971800" cy="242316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p6"/>
          <p:cNvSpPr/>
          <p:nvPr/>
        </p:nvSpPr>
        <p:spPr>
          <a:xfrm>
            <a:off x="1965960" y="3986784"/>
            <a:ext cx="1600200" cy="256032"/>
          </a:xfrm>
          <a:prstGeom prst="roundRect">
            <a:avLst>
              <a:gd name="adj" fmla="val 50000"/>
            </a:avLst>
          </a:prstGeom>
          <a:solidFill>
            <a:srgbClr val="079ED2"/>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IMPACT 01</a:t>
            </a:r>
            <a:endParaRPr/>
          </a:p>
        </p:txBody>
      </p:sp>
      <p:sp>
        <p:nvSpPr>
          <p:cNvPr id="306" name="Google Shape;306;p6"/>
          <p:cNvSpPr txBox="1"/>
          <p:nvPr/>
        </p:nvSpPr>
        <p:spPr>
          <a:xfrm>
            <a:off x="1828800" y="4343400"/>
            <a:ext cx="2606100" cy="12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53334"/>
                </a:solidFill>
                <a:latin typeface="Fjalla One"/>
                <a:ea typeface="Fjalla One"/>
                <a:cs typeface="Fjalla One"/>
                <a:sym typeface="Fjalla One"/>
              </a:rPr>
              <a:t>WHAT IMPROVES</a:t>
            </a:r>
            <a:endParaRPr sz="1600"/>
          </a:p>
          <a:p>
            <a:pPr marL="0" marR="0" lvl="0" indent="0" algn="l" rtl="0">
              <a:spcBef>
                <a:spcPts val="400"/>
              </a:spcBef>
              <a:spcAft>
                <a:spcPts val="0"/>
              </a:spcAft>
              <a:buNone/>
            </a:pPr>
            <a:r>
              <a:rPr lang="en-US" sz="1150">
                <a:solidFill>
                  <a:srgbClr val="3C3C41"/>
                </a:solidFill>
                <a:latin typeface="Mulish"/>
                <a:ea typeface="Mulish"/>
                <a:cs typeface="Mulish"/>
                <a:sym typeface="Mulish"/>
              </a:rPr>
              <a:t>Assignment goes from manual checking of technicians and parts to automatic matching. Status goes from scattered messages to one live dashboard. </a:t>
            </a:r>
            <a:endParaRPr sz="1600"/>
          </a:p>
        </p:txBody>
      </p:sp>
      <p:sp>
        <p:nvSpPr>
          <p:cNvPr id="307" name="Google Shape;307;p6"/>
          <p:cNvSpPr/>
          <p:nvPr/>
        </p:nvSpPr>
        <p:spPr>
          <a:xfrm>
            <a:off x="4864608" y="4114800"/>
            <a:ext cx="2971800" cy="242316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 name="Google Shape;308;p6"/>
          <p:cNvSpPr/>
          <p:nvPr/>
        </p:nvSpPr>
        <p:spPr>
          <a:xfrm>
            <a:off x="5184648" y="3986784"/>
            <a:ext cx="1600200" cy="256032"/>
          </a:xfrm>
          <a:prstGeom prst="roundRect">
            <a:avLst>
              <a:gd name="adj" fmla="val 50000"/>
            </a:avLst>
          </a:prstGeom>
          <a:solidFill>
            <a:srgbClr val="FFB903"/>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353334"/>
                </a:solidFill>
                <a:latin typeface="Mulish"/>
                <a:ea typeface="Mulish"/>
                <a:cs typeface="Mulish"/>
                <a:sym typeface="Mulish"/>
              </a:rPr>
              <a:t>IMPACT 02</a:t>
            </a:r>
            <a:endParaRPr/>
          </a:p>
        </p:txBody>
      </p:sp>
      <p:sp>
        <p:nvSpPr>
          <p:cNvPr id="309" name="Google Shape;309;p6"/>
          <p:cNvSpPr txBox="1"/>
          <p:nvPr/>
        </p:nvSpPr>
        <p:spPr>
          <a:xfrm>
            <a:off x="5047488" y="4343400"/>
            <a:ext cx="2606100" cy="12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53334"/>
                </a:solidFill>
                <a:latin typeface="Fjalla One"/>
                <a:ea typeface="Fjalla One"/>
                <a:cs typeface="Fjalla One"/>
                <a:sym typeface="Fjalla One"/>
              </a:rPr>
              <a:t>WHO ELSE BENEFITS</a:t>
            </a:r>
            <a:endParaRPr sz="1600"/>
          </a:p>
          <a:p>
            <a:pPr marL="0" marR="0" lvl="0" indent="0" algn="l" rtl="0">
              <a:spcBef>
                <a:spcPts val="400"/>
              </a:spcBef>
              <a:spcAft>
                <a:spcPts val="0"/>
              </a:spcAft>
              <a:buNone/>
            </a:pPr>
            <a:r>
              <a:rPr lang="en-US" sz="1150">
                <a:solidFill>
                  <a:srgbClr val="3C3C41"/>
                </a:solidFill>
                <a:latin typeface="Mulish"/>
                <a:ea typeface="Mulish"/>
                <a:cs typeface="Mulish"/>
                <a:sym typeface="Mulish"/>
              </a:rPr>
              <a:t>Customers get real-time status. Managers get SLA and workload visibility. Auditors and compliance teams get a complete service history. </a:t>
            </a:r>
            <a:endParaRPr sz="1600"/>
          </a:p>
        </p:txBody>
      </p:sp>
      <p:sp>
        <p:nvSpPr>
          <p:cNvPr id="310" name="Google Shape;310;p6"/>
          <p:cNvSpPr/>
          <p:nvPr/>
        </p:nvSpPr>
        <p:spPr>
          <a:xfrm>
            <a:off x="8083296" y="4114800"/>
            <a:ext cx="2971800" cy="242316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950">
              <a:solidFill>
                <a:srgbClr val="3C3C41"/>
              </a:solidFill>
              <a:latin typeface="Mulish"/>
              <a:ea typeface="Mulish"/>
              <a:cs typeface="Mulish"/>
              <a:sym typeface="Mulish"/>
            </a:endParaRPr>
          </a:p>
        </p:txBody>
      </p:sp>
      <p:sp>
        <p:nvSpPr>
          <p:cNvPr id="311" name="Google Shape;311;p6"/>
          <p:cNvSpPr/>
          <p:nvPr/>
        </p:nvSpPr>
        <p:spPr>
          <a:xfrm>
            <a:off x="8403336" y="3986784"/>
            <a:ext cx="1600200" cy="256032"/>
          </a:xfrm>
          <a:prstGeom prst="roundRect">
            <a:avLst>
              <a:gd name="adj" fmla="val 50000"/>
            </a:avLst>
          </a:prstGeom>
          <a:solidFill>
            <a:srgbClr val="353334"/>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IMPACT 03</a:t>
            </a:r>
            <a:endParaRPr/>
          </a:p>
        </p:txBody>
      </p:sp>
      <p:sp>
        <p:nvSpPr>
          <p:cNvPr id="312" name="Google Shape;312;p6"/>
          <p:cNvSpPr txBox="1"/>
          <p:nvPr/>
        </p:nvSpPr>
        <p:spPr>
          <a:xfrm>
            <a:off x="8266176" y="4343400"/>
            <a:ext cx="2606100" cy="140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53334"/>
                </a:solidFill>
                <a:latin typeface="Fjalla One"/>
                <a:ea typeface="Fjalla One"/>
                <a:cs typeface="Fjalla One"/>
                <a:sym typeface="Fjalla One"/>
              </a:rPr>
              <a:t>RISKS / MISUSE</a:t>
            </a:r>
            <a:endParaRPr sz="1150">
              <a:solidFill>
                <a:srgbClr val="3C3C41"/>
              </a:solidFill>
              <a:latin typeface="Mulish"/>
              <a:ea typeface="Mulish"/>
              <a:cs typeface="Mulish"/>
              <a:sym typeface="Mulish"/>
            </a:endParaRPr>
          </a:p>
          <a:p>
            <a:pPr marL="0" marR="0" lvl="0" indent="0" algn="l" rtl="0">
              <a:spcBef>
                <a:spcPts val="400"/>
              </a:spcBef>
              <a:spcAft>
                <a:spcPts val="0"/>
              </a:spcAft>
              <a:buNone/>
            </a:pPr>
            <a:r>
              <a:rPr lang="en-US" sz="1150">
                <a:solidFill>
                  <a:srgbClr val="3C3C41"/>
                </a:solidFill>
                <a:latin typeface="Mulish"/>
                <a:ea typeface="Mulish"/>
                <a:cs typeface="Mulish"/>
                <a:sym typeface="Mulish"/>
              </a:rPr>
              <a:t>Wrong auto-assignments, unauthorized access to service records, and tampered logs. Mitigation: dispatcher override, role-based access and an append-only audit trail. </a:t>
            </a:r>
            <a:endParaRPr sz="1150">
              <a:solidFill>
                <a:srgbClr val="3C3C41"/>
              </a:solidFill>
              <a:latin typeface="Mulish"/>
              <a:ea typeface="Mulish"/>
              <a:cs typeface="Mulish"/>
              <a:sym typeface="Mulish"/>
            </a:endParaRPr>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7"/>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7"/>
          <p:cNvSpPr/>
          <p:nvPr/>
        </p:nvSpPr>
        <p:spPr>
          <a:xfrm>
            <a:off x="-182880" y="1051560"/>
            <a:ext cx="105156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p7"/>
          <p:cNvSpPr/>
          <p:nvPr/>
        </p:nvSpPr>
        <p:spPr>
          <a:xfrm>
            <a:off x="-182880" y="1453896"/>
            <a:ext cx="146304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7"/>
          <p:cNvSpPr/>
          <p:nvPr/>
        </p:nvSpPr>
        <p:spPr>
          <a:xfrm>
            <a:off x="-182880" y="1856232"/>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7"/>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7"/>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7"/>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7"/>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7"/>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7"/>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 name="Google Shape;327;p7"/>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 name="Google Shape;328;p7"/>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7"/>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 name="Google Shape;330;p7"/>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 name="Google Shape;331;p7"/>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7"/>
          <p:cNvSpPr/>
          <p:nvPr/>
        </p:nvSpPr>
        <p:spPr>
          <a:xfrm>
            <a:off x="8412480" y="640080"/>
            <a:ext cx="100584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7"/>
          <p:cNvSpPr/>
          <p:nvPr/>
        </p:nvSpPr>
        <p:spPr>
          <a:xfrm>
            <a:off x="837133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7"/>
          <p:cNvSpPr/>
          <p:nvPr/>
        </p:nvSpPr>
        <p:spPr>
          <a:xfrm>
            <a:off x="937717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7"/>
          <p:cNvSpPr txBox="1"/>
          <p:nvPr/>
        </p:nvSpPr>
        <p:spPr>
          <a:xfrm>
            <a:off x="1645920" y="384048"/>
            <a:ext cx="82296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a:solidFill>
                  <a:srgbClr val="353334"/>
                </a:solidFill>
                <a:latin typeface="Mulish"/>
                <a:ea typeface="Mulish"/>
                <a:cs typeface="Mulish"/>
                <a:sym typeface="Mulish"/>
              </a:rPr>
              <a:t>DATAQUEST 3.0  ·  ROUND 1</a:t>
            </a:r>
            <a:endParaRPr/>
          </a:p>
        </p:txBody>
      </p:sp>
      <p:sp>
        <p:nvSpPr>
          <p:cNvPr id="336" name="Google Shape;336;p7"/>
          <p:cNvSpPr txBox="1"/>
          <p:nvPr/>
        </p:nvSpPr>
        <p:spPr>
          <a:xfrm>
            <a:off x="1645920" y="621792"/>
            <a:ext cx="9144000" cy="7772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D1485"/>
                </a:solidFill>
                <a:latin typeface="Fjalla One"/>
                <a:ea typeface="Fjalla One"/>
                <a:cs typeface="Fjalla One"/>
                <a:sym typeface="Fjalla One"/>
              </a:rPr>
              <a:t>07  </a:t>
            </a:r>
            <a:r>
              <a:rPr lang="en-US" sz="3200" b="1">
                <a:solidFill>
                  <a:srgbClr val="353334"/>
                </a:solidFill>
                <a:latin typeface="Fjalla One"/>
                <a:ea typeface="Fjalla One"/>
                <a:cs typeface="Fjalla One"/>
                <a:sym typeface="Fjalla One"/>
              </a:rPr>
              <a:t>Why This Project?</a:t>
            </a:r>
            <a:endParaRPr/>
          </a:p>
        </p:txBody>
      </p:sp>
      <p:sp>
        <p:nvSpPr>
          <p:cNvPr id="337" name="Google Shape;337;p7"/>
          <p:cNvSpPr/>
          <p:nvPr/>
        </p:nvSpPr>
        <p:spPr>
          <a:xfrm>
            <a:off x="1645920" y="1444752"/>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8" name="Google Shape;338;p7"/>
          <p:cNvSpPr txBox="1"/>
          <p:nvPr/>
        </p:nvSpPr>
        <p:spPr>
          <a:xfrm>
            <a:off x="1645920" y="1517904"/>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6E6E73"/>
                </a:solidFill>
                <a:latin typeface="Mulish"/>
                <a:ea typeface="Mulish"/>
                <a:cs typeface="Mulish"/>
                <a:sym typeface="Mulish"/>
              </a:rPr>
              <a:t>Direct contrast with today's alternatives · Unfair technical advantage</a:t>
            </a:r>
            <a:endParaRPr/>
          </a:p>
        </p:txBody>
      </p:sp>
      <p:sp>
        <p:nvSpPr>
          <p:cNvPr id="339" name="Google Shape;339;p7"/>
          <p:cNvSpPr/>
          <p:nvPr/>
        </p:nvSpPr>
        <p:spPr>
          <a:xfrm>
            <a:off x="1645920" y="2011680"/>
            <a:ext cx="4572000" cy="265176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p7"/>
          <p:cNvSpPr/>
          <p:nvPr/>
        </p:nvSpPr>
        <p:spPr>
          <a:xfrm>
            <a:off x="1965960" y="1883664"/>
            <a:ext cx="1600200" cy="256032"/>
          </a:xfrm>
          <a:prstGeom prst="roundRect">
            <a:avLst>
              <a:gd name="adj" fmla="val 50000"/>
            </a:avLst>
          </a:prstGeom>
          <a:solidFill>
            <a:srgbClr val="353334"/>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STATUS QUO</a:t>
            </a:r>
            <a:endParaRPr/>
          </a:p>
        </p:txBody>
      </p:sp>
      <p:sp>
        <p:nvSpPr>
          <p:cNvPr id="341" name="Google Shape;341;p7"/>
          <p:cNvSpPr txBox="1"/>
          <p:nvPr/>
        </p:nvSpPr>
        <p:spPr>
          <a:xfrm>
            <a:off x="1920240" y="2286000"/>
            <a:ext cx="4023300" cy="100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53334"/>
                </a:solidFill>
                <a:latin typeface="Fjalla One"/>
                <a:ea typeface="Fjalla One"/>
                <a:cs typeface="Fjalla One"/>
                <a:sym typeface="Fjalla One"/>
              </a:rPr>
              <a:t>CURRENT APPROACH</a:t>
            </a:r>
            <a:endParaRPr sz="1700"/>
          </a:p>
          <a:p>
            <a:pPr marL="0" marR="0" lvl="0" indent="0" algn="l" rtl="0">
              <a:spcBef>
                <a:spcPts val="400"/>
              </a:spcBef>
              <a:spcAft>
                <a:spcPts val="0"/>
              </a:spcAft>
              <a:buNone/>
            </a:pPr>
            <a:r>
              <a:rPr lang="en-US" sz="1300">
                <a:solidFill>
                  <a:srgbClr val="3C3C41"/>
                </a:solidFill>
                <a:latin typeface="Mulish"/>
                <a:ea typeface="Mulish"/>
                <a:cs typeface="Mulish"/>
                <a:sym typeface="Mulish"/>
              </a:rPr>
              <a:t>Spreadsheets, calls and chat apps. Availability is checked by hand, problems surface late, and nobody can easily reconstruct a machine's history. </a:t>
            </a:r>
            <a:endParaRPr sz="1700"/>
          </a:p>
        </p:txBody>
      </p:sp>
      <p:sp>
        <p:nvSpPr>
          <p:cNvPr id="342" name="Google Shape;342;p7"/>
          <p:cNvSpPr/>
          <p:nvPr/>
        </p:nvSpPr>
        <p:spPr>
          <a:xfrm>
            <a:off x="6492240" y="2011680"/>
            <a:ext cx="4572000" cy="265176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7"/>
          <p:cNvSpPr/>
          <p:nvPr/>
        </p:nvSpPr>
        <p:spPr>
          <a:xfrm>
            <a:off x="6812280" y="1883664"/>
            <a:ext cx="1600200" cy="256032"/>
          </a:xfrm>
          <a:prstGeom prst="roundRect">
            <a:avLst>
              <a:gd name="adj" fmla="val 50000"/>
            </a:avLst>
          </a:prstGeom>
          <a:solidFill>
            <a:srgbClr val="079ED2"/>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OUR SOLUTION</a:t>
            </a:r>
            <a:endParaRPr/>
          </a:p>
        </p:txBody>
      </p:sp>
      <p:sp>
        <p:nvSpPr>
          <p:cNvPr id="344" name="Google Shape;344;p7"/>
          <p:cNvSpPr txBox="1"/>
          <p:nvPr/>
        </p:nvSpPr>
        <p:spPr>
          <a:xfrm>
            <a:off x="6766560" y="2286000"/>
            <a:ext cx="4023300" cy="1205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53334"/>
                </a:solidFill>
                <a:latin typeface="Fjalla One"/>
                <a:ea typeface="Fjalla One"/>
                <a:cs typeface="Fjalla One"/>
                <a:sym typeface="Fjalla One"/>
              </a:rPr>
              <a:t>OUR APPROACH</a:t>
            </a:r>
            <a:endParaRPr sz="1700"/>
          </a:p>
          <a:p>
            <a:pPr marL="0" marR="0" lvl="0" indent="0" algn="l" rtl="0">
              <a:spcBef>
                <a:spcPts val="400"/>
              </a:spcBef>
              <a:spcAft>
                <a:spcPts val="0"/>
              </a:spcAft>
              <a:buNone/>
            </a:pPr>
            <a:r>
              <a:rPr lang="en-US" sz="1300">
                <a:solidFill>
                  <a:srgbClr val="3C3C41"/>
                </a:solidFill>
                <a:latin typeface="Mulish"/>
                <a:ea typeface="Mulish"/>
                <a:cs typeface="Mulish"/>
                <a:sym typeface="Mulish"/>
              </a:rPr>
              <a:t>One platform that validates, approves, assigns and tracks each request automatically, and flags exceptions as they happen with one-click reassignment. </a:t>
            </a:r>
            <a:endParaRPr sz="1700"/>
          </a:p>
        </p:txBody>
      </p:sp>
      <p:sp>
        <p:nvSpPr>
          <p:cNvPr id="345" name="Google Shape;345;p7"/>
          <p:cNvSpPr/>
          <p:nvPr/>
        </p:nvSpPr>
        <p:spPr>
          <a:xfrm>
            <a:off x="1645920" y="4892040"/>
            <a:ext cx="9418320" cy="1645920"/>
          </a:xfrm>
          <a:prstGeom prst="roundRect">
            <a:avLst>
              <a:gd name="adj" fmla="val 3500"/>
            </a:avLst>
          </a:prstGeom>
          <a:solidFill>
            <a:srgbClr val="FFFFFF"/>
          </a:solidFill>
          <a:ln w="19050"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7"/>
          <p:cNvSpPr/>
          <p:nvPr/>
        </p:nvSpPr>
        <p:spPr>
          <a:xfrm>
            <a:off x="1965960" y="4764024"/>
            <a:ext cx="1600200" cy="256032"/>
          </a:xfrm>
          <a:prstGeom prst="roundRect">
            <a:avLst>
              <a:gd name="adj" fmla="val 50000"/>
            </a:avLst>
          </a:prstGeom>
          <a:solidFill>
            <a:srgbClr val="FD1485"/>
          </a:solidFill>
          <a:ln w="15225" cap="flat" cmpd="sng">
            <a:solidFill>
              <a:srgbClr val="353334"/>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0" tIns="0" rIns="0" bIns="0" anchor="ctr" anchorCtr="0">
            <a:noAutofit/>
          </a:bodyPr>
          <a:lstStyle/>
          <a:p>
            <a:pPr marL="0" marR="0" lvl="0" indent="0" algn="ctr" rtl="0">
              <a:spcBef>
                <a:spcPts val="0"/>
              </a:spcBef>
              <a:spcAft>
                <a:spcPts val="0"/>
              </a:spcAft>
              <a:buNone/>
            </a:pPr>
            <a:r>
              <a:rPr lang="en-US" sz="850" b="1">
                <a:solidFill>
                  <a:srgbClr val="FFFFFF"/>
                </a:solidFill>
                <a:latin typeface="Mulish"/>
                <a:ea typeface="Mulish"/>
                <a:cs typeface="Mulish"/>
                <a:sym typeface="Mulish"/>
              </a:rPr>
              <a:t>MOAT / DIFFERENTIATION</a:t>
            </a:r>
            <a:endParaRPr/>
          </a:p>
        </p:txBody>
      </p:sp>
      <p:sp>
        <p:nvSpPr>
          <p:cNvPr id="347" name="Google Shape;347;p7"/>
          <p:cNvSpPr txBox="1"/>
          <p:nvPr/>
        </p:nvSpPr>
        <p:spPr>
          <a:xfrm>
            <a:off x="1920240" y="5120640"/>
            <a:ext cx="8869800" cy="79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rgbClr val="FD1485"/>
                </a:solidFill>
                <a:latin typeface="Fjalla One"/>
                <a:ea typeface="Fjalla One"/>
                <a:cs typeface="Fjalla One"/>
                <a:sym typeface="Fjalla One"/>
              </a:rPr>
              <a:t>KEY DIFFERENCE</a:t>
            </a:r>
            <a:endParaRPr sz="1600"/>
          </a:p>
          <a:p>
            <a:pPr marL="0" marR="0" lvl="0" indent="0" algn="l" rtl="0">
              <a:spcBef>
                <a:spcPts val="400"/>
              </a:spcBef>
              <a:spcAft>
                <a:spcPts val="0"/>
              </a:spcAft>
              <a:buNone/>
            </a:pPr>
            <a:r>
              <a:rPr lang="en-US" b="1">
                <a:solidFill>
                  <a:srgbClr val="353334"/>
                </a:solidFill>
                <a:latin typeface="Fjalla One"/>
                <a:ea typeface="Fjalla One"/>
                <a:cs typeface="Fjalla One"/>
                <a:sym typeface="Fjalla One"/>
              </a:rPr>
              <a:t>It is built around the exception path and extensibility, not just a request form. Dropouts, missing parts and SLA breaches are handled in the workflow, and every state change is an event that future AI, IoT and blockchain modules can use. </a:t>
            </a:r>
            <a:endParaRPr sz="1600"/>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8"/>
          <p:cNvSpPr/>
          <p:nvPr/>
        </p:nvSpPr>
        <p:spPr>
          <a:xfrm>
            <a:off x="0" y="0"/>
            <a:ext cx="12191695" cy="6858000"/>
          </a:xfrm>
          <a:prstGeom prst="rect">
            <a:avLst/>
          </a:prstGeom>
          <a:solidFill>
            <a:srgbClr val="FFFFF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8"/>
          <p:cNvSpPr/>
          <p:nvPr/>
        </p:nvSpPr>
        <p:spPr>
          <a:xfrm>
            <a:off x="-182880" y="1051560"/>
            <a:ext cx="1051560" cy="329184"/>
          </a:xfrm>
          <a:prstGeom prst="roundRect">
            <a:avLst>
              <a:gd name="adj" fmla="val 50000"/>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 name="Google Shape;354;p8"/>
          <p:cNvSpPr/>
          <p:nvPr/>
        </p:nvSpPr>
        <p:spPr>
          <a:xfrm>
            <a:off x="-182880" y="1453896"/>
            <a:ext cx="1463040" cy="329184"/>
          </a:xfrm>
          <a:prstGeom prst="roundRect">
            <a:avLst>
              <a:gd name="adj" fmla="val 50000"/>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 name="Google Shape;355;p8"/>
          <p:cNvSpPr/>
          <p:nvPr/>
        </p:nvSpPr>
        <p:spPr>
          <a:xfrm>
            <a:off x="-182880" y="1856232"/>
            <a:ext cx="1051560" cy="329184"/>
          </a:xfrm>
          <a:prstGeom prst="roundRect">
            <a:avLst>
              <a:gd name="adj" fmla="val 50000"/>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6" name="Google Shape;356;p8"/>
          <p:cNvSpPr/>
          <p:nvPr/>
        </p:nvSpPr>
        <p:spPr>
          <a:xfrm>
            <a:off x="11521440" y="5486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8"/>
          <p:cNvSpPr/>
          <p:nvPr/>
        </p:nvSpPr>
        <p:spPr>
          <a:xfrm>
            <a:off x="11521440" y="7132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8"/>
          <p:cNvSpPr/>
          <p:nvPr/>
        </p:nvSpPr>
        <p:spPr>
          <a:xfrm>
            <a:off x="11521440" y="8778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8"/>
          <p:cNvSpPr/>
          <p:nvPr/>
        </p:nvSpPr>
        <p:spPr>
          <a:xfrm>
            <a:off x="11521440" y="10424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8"/>
          <p:cNvSpPr/>
          <p:nvPr/>
        </p:nvSpPr>
        <p:spPr>
          <a:xfrm>
            <a:off x="548640" y="5577840"/>
            <a:ext cx="219456" cy="164592"/>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8"/>
          <p:cNvSpPr/>
          <p:nvPr/>
        </p:nvSpPr>
        <p:spPr>
          <a:xfrm>
            <a:off x="548640" y="5742432"/>
            <a:ext cx="219456" cy="164592"/>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2" name="Google Shape;362;p8"/>
          <p:cNvSpPr/>
          <p:nvPr/>
        </p:nvSpPr>
        <p:spPr>
          <a:xfrm>
            <a:off x="548640" y="5907024"/>
            <a:ext cx="219456" cy="164592"/>
          </a:xfrm>
          <a:prstGeom prst="rect">
            <a:avLst/>
          </a:prstGeom>
          <a:solidFill>
            <a:srgbClr val="FD1485"/>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3" name="Google Shape;363;p8"/>
          <p:cNvSpPr/>
          <p:nvPr/>
        </p:nvSpPr>
        <p:spPr>
          <a:xfrm>
            <a:off x="548640" y="6071616"/>
            <a:ext cx="219456" cy="164592"/>
          </a:xfrm>
          <a:prstGeom prst="rect">
            <a:avLst/>
          </a:prstGeom>
          <a:solidFill>
            <a:srgbClr val="079ED2"/>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8"/>
          <p:cNvSpPr/>
          <p:nvPr/>
        </p:nvSpPr>
        <p:spPr>
          <a:xfrm>
            <a:off x="11087100" y="5934075"/>
            <a:ext cx="32004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8"/>
          <p:cNvSpPr/>
          <p:nvPr/>
        </p:nvSpPr>
        <p:spPr>
          <a:xfrm>
            <a:off x="11237595" y="5783580"/>
            <a:ext cx="19050" cy="32004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8"/>
          <p:cNvSpPr/>
          <p:nvPr/>
        </p:nvSpPr>
        <p:spPr>
          <a:xfrm>
            <a:off x="11192256" y="5888736"/>
            <a:ext cx="109728" cy="109728"/>
          </a:xfrm>
          <a:prstGeom prst="rect">
            <a:avLst/>
          </a:prstGeom>
          <a:solidFill>
            <a:srgbClr val="FFB903"/>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7" name="Google Shape;367;p8"/>
          <p:cNvSpPr/>
          <p:nvPr/>
        </p:nvSpPr>
        <p:spPr>
          <a:xfrm>
            <a:off x="8412480" y="640080"/>
            <a:ext cx="1005840" cy="822960"/>
          </a:xfrm>
          <a:prstGeom prst="arc">
            <a:avLst>
              <a:gd name="adj1" fmla="val 16200000"/>
              <a:gd name="adj2" fmla="val 0"/>
            </a:avLst>
          </a:prstGeom>
          <a:noFill/>
          <a:ln w="19050" cap="flat" cmpd="sng">
            <a:solidFill>
              <a:srgbClr val="079ED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8"/>
          <p:cNvSpPr/>
          <p:nvPr/>
        </p:nvSpPr>
        <p:spPr>
          <a:xfrm>
            <a:off x="8371332" y="101041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8"/>
          <p:cNvSpPr/>
          <p:nvPr/>
        </p:nvSpPr>
        <p:spPr>
          <a:xfrm>
            <a:off x="9377172" y="598932"/>
            <a:ext cx="82296" cy="82296"/>
          </a:xfrm>
          <a:prstGeom prst="rect">
            <a:avLst/>
          </a:prstGeom>
          <a:solidFill>
            <a:srgbClr val="FFFFFF"/>
          </a:solidFill>
          <a:ln w="17775" cap="flat" cmpd="sng">
            <a:solidFill>
              <a:srgbClr val="FD148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8"/>
          <p:cNvSpPr txBox="1"/>
          <p:nvPr/>
        </p:nvSpPr>
        <p:spPr>
          <a:xfrm>
            <a:off x="1645920" y="384048"/>
            <a:ext cx="82296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a:solidFill>
                  <a:srgbClr val="353334"/>
                </a:solidFill>
                <a:latin typeface="Mulish"/>
                <a:ea typeface="Mulish"/>
                <a:cs typeface="Mulish"/>
                <a:sym typeface="Mulish"/>
              </a:rPr>
              <a:t>DATAQUEST 3.0  ·  ROUND 1</a:t>
            </a:r>
            <a:endParaRPr/>
          </a:p>
        </p:txBody>
      </p:sp>
      <p:sp>
        <p:nvSpPr>
          <p:cNvPr id="371" name="Google Shape;371;p8"/>
          <p:cNvSpPr txBox="1"/>
          <p:nvPr/>
        </p:nvSpPr>
        <p:spPr>
          <a:xfrm>
            <a:off x="1645920" y="621792"/>
            <a:ext cx="91440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D1485"/>
                </a:solidFill>
                <a:latin typeface="Fjalla One"/>
                <a:ea typeface="Fjalla One"/>
                <a:cs typeface="Fjalla One"/>
                <a:sym typeface="Fjalla One"/>
              </a:rPr>
              <a:t>08  </a:t>
            </a:r>
            <a:r>
              <a:rPr lang="en-US" sz="3200" b="1">
                <a:solidFill>
                  <a:srgbClr val="353334"/>
                </a:solidFill>
                <a:latin typeface="Fjalla One"/>
                <a:ea typeface="Fjalla One"/>
                <a:cs typeface="Fjalla One"/>
                <a:sym typeface="Fjalla One"/>
              </a:rPr>
              <a:t>Extra Slide</a:t>
            </a:r>
            <a:endParaRPr/>
          </a:p>
        </p:txBody>
      </p:sp>
      <p:sp>
        <p:nvSpPr>
          <p:cNvPr id="372" name="Google Shape;372;p8"/>
          <p:cNvSpPr/>
          <p:nvPr/>
        </p:nvSpPr>
        <p:spPr>
          <a:xfrm>
            <a:off x="1645920" y="1444752"/>
            <a:ext cx="9418320" cy="19050"/>
          </a:xfrm>
          <a:prstGeom prst="rect">
            <a:avLst/>
          </a:prstGeom>
          <a:solidFill>
            <a:srgbClr val="353334"/>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3" name="Google Shape;373;p8"/>
          <p:cNvSpPr txBox="1"/>
          <p:nvPr/>
        </p:nvSpPr>
        <p:spPr>
          <a:xfrm>
            <a:off x="1645920" y="1517904"/>
            <a:ext cx="94183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6E6E73"/>
                </a:solidFill>
                <a:latin typeface="Mulish"/>
                <a:ea typeface="Mulish"/>
                <a:cs typeface="Mulish"/>
                <a:sym typeface="Mulish"/>
              </a:rPr>
              <a:t>Optional appendix · Extra diagrams, product screenshots, benchmarks, or backup details</a:t>
            </a:r>
            <a:endParaRPr/>
          </a:p>
        </p:txBody>
      </p:sp>
    </p:spTree>
  </p:cSld>
  <p:clrMapOvr>
    <a:masterClrMapping/>
  </p:clrMapOvr>
  <p:transition spd="med">
    <p:pull/>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1188</Words>
  <Application>Microsoft Office PowerPoint</Application>
  <PresentationFormat>Widescreen</PresentationFormat>
  <Paragraphs>125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Fjalla One</vt:lpstr>
      <vt:lpstr>Calibri</vt:lpstr>
      <vt:lpstr>Mulish</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VAISHNAVI</dc:creator>
  <cp:lastModifiedBy>Vaishnavi Sharma Raman</cp:lastModifiedBy>
  <cp:revision>4</cp:revision>
  <dcterms:created xsi:type="dcterms:W3CDTF">2013-01-27T09:14:16Z</dcterms:created>
  <dcterms:modified xsi:type="dcterms:W3CDTF">2026-10-07T17:12:08Z</dcterms:modified>
</cp:coreProperties>
</file>